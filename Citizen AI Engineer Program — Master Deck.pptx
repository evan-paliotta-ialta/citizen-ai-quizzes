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alta-logo-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28600"/>
            <a:ext cx="1463040" cy="5364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2377440"/>
            <a:ext cx="94183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Citizen AI Engineer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290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1">
                <a:solidFill>
                  <a:srgbClr val="CCD1D9"/>
                </a:solidFill>
                <a:latin typeface="Calibri"/>
              </a:rPr>
              <a:t>From Policy to Practice — A Complete Operating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565392"/>
            <a:ext cx="121889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iAltA  |  Confidential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64592"/>
            <a:ext cx="1664208" cy="256032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PROGRAM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What &amp; Why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1640312" cy="22860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417320"/>
            <a:ext cx="2651760" cy="54864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472184"/>
            <a:ext cx="2651760" cy="3749039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600200"/>
            <a:ext cx="2432304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D6FF7"/>
                </a:solidFill>
                <a:latin typeface="Calibri"/>
              </a:rPr>
              <a:t>Policy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200" b="0" i="0">
                <a:solidFill>
                  <a:srgbClr val="CCD1D9"/>
                </a:solidFill>
                <a:latin typeface="Calibri"/>
              </a:rPr>
              <a:t>Acceptable Use Policy + Driving Zones framework govern what's allowed and when</a:t>
            </a:r>
          </a:p>
        </p:txBody>
      </p:sp>
      <p:sp>
        <p:nvSpPr>
          <p:cNvPr id="8" name="Rectangle 7"/>
          <p:cNvSpPr/>
          <p:nvPr/>
        </p:nvSpPr>
        <p:spPr>
          <a:xfrm>
            <a:off x="3136392" y="1417320"/>
            <a:ext cx="2651760" cy="54864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36392" y="1472184"/>
            <a:ext cx="2651760" cy="3749039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600200"/>
            <a:ext cx="2432304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D6FF7"/>
                </a:solidFill>
                <a:latin typeface="Calibri"/>
              </a:rPr>
              <a:t>Tooling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200" b="0" i="0">
                <a:solidFill>
                  <a:srgbClr val="CCD1D9"/>
                </a:solidFill>
                <a:latin typeface="Calibri"/>
              </a:rPr>
              <a:t>Claude Teams (now) + GitHub Teams — enterprise AI + version-controlled audit trail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52744" y="1417320"/>
            <a:ext cx="2651760" cy="54864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52744" y="1472184"/>
            <a:ext cx="2651760" cy="3749039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62472" y="1600200"/>
            <a:ext cx="2432304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D6FF7"/>
                </a:solidFill>
                <a:latin typeface="Calibri"/>
              </a:rPr>
              <a:t>Tracking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200" b="0" i="0">
                <a:solidFill>
                  <a:srgbClr val="CCD1D9"/>
                </a:solidFill>
                <a:latin typeface="Calibri"/>
              </a:rPr>
              <a:t>Highlander ODL ingests every commit — proves business value to CIO and board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69096" y="1417320"/>
            <a:ext cx="2651760" cy="54864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69096" y="1472184"/>
            <a:ext cx="2651760" cy="3749039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78824" y="1600200"/>
            <a:ext cx="2432304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D6FF7"/>
                </a:solidFill>
                <a:latin typeface="Calibri"/>
              </a:rPr>
              <a:t>Culture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200" b="0" i="0">
                <a:solidFill>
                  <a:srgbClr val="CCD1D9"/>
                </a:solidFill>
                <a:latin typeface="Calibri"/>
              </a:rPr>
              <a:t>Driver's license model: certification + signed AUP before any license is issued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5394960"/>
            <a:ext cx="11548872" cy="822960"/>
          </a:xfrm>
          <a:prstGeom prst="rect">
            <a:avLst/>
          </a:prstGeom>
          <a:solidFill>
            <a:srgbClr val="0A2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5440680"/>
            <a:ext cx="113659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 i="0">
                <a:solidFill>
                  <a:srgbClr val="CCD1D9"/>
                </a:solidFill>
                <a:latin typeface="Calibri"/>
              </a:rPr>
              <a:t>25 citizens × 1 hr/week saved × $75/hr =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$93,750/year in recaptured capacity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2D6FF7"/>
                </a:solidFill>
                <a:latin typeface="Calibri"/>
              </a:rPr>
              <a:t>Highlander measures and proves every dollar of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64592"/>
            <a:ext cx="1664208" cy="256032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PROGRAM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Program Architecture — How It All Connects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1640312" cy="22860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" y="2194560"/>
            <a:ext cx="1417320" cy="914400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" y="2194560"/>
            <a:ext cx="1417320" cy="914400"/>
          </a:xfrm>
          <a:prstGeom prst="rect">
            <a:avLst/>
          </a:prstGeom>
          <a:noFill/>
        </p:spPr>
        <p:txBody>
          <a:bodyPr wrap="none" tIns="16459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AUP &amp;
Policy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83664" y="251460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D6FF7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093976" y="2194560"/>
            <a:ext cx="1417320" cy="914400"/>
          </a:xfrm>
          <a:prstGeom prst="rect">
            <a:avLst/>
          </a:prstGeom>
          <a:solidFill>
            <a:srgbClr val="1A4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93976" y="2194560"/>
            <a:ext cx="1417320" cy="914400"/>
          </a:xfrm>
          <a:prstGeom prst="rect">
            <a:avLst/>
          </a:prstGeom>
          <a:noFill/>
        </p:spPr>
        <p:txBody>
          <a:bodyPr wrap="none" tIns="16459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License
Issued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9584" y="251460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D6FF7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39896" y="2194560"/>
            <a:ext cx="1417320" cy="914400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9896" y="2194560"/>
            <a:ext cx="1417320" cy="914400"/>
          </a:xfrm>
          <a:prstGeom prst="rect">
            <a:avLst/>
          </a:prstGeom>
          <a:noFill/>
        </p:spPr>
        <p:txBody>
          <a:bodyPr wrap="none" tIns="16459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Certif-
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75503" y="251460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D6FF7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85816" y="2194560"/>
            <a:ext cx="1417320" cy="914400"/>
          </a:xfrm>
          <a:prstGeom prst="rect">
            <a:avLst/>
          </a:prstGeom>
          <a:solidFill>
            <a:srgbClr val="1A4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85816" y="2194560"/>
            <a:ext cx="1417320" cy="914400"/>
          </a:xfrm>
          <a:prstGeom prst="rect">
            <a:avLst/>
          </a:prstGeom>
          <a:noFill/>
        </p:spPr>
        <p:txBody>
          <a:bodyPr wrap="none" tIns="16459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Claude
Tooling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1424" y="251460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D6FF7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31736" y="2194560"/>
            <a:ext cx="1417320" cy="914400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31736" y="2194560"/>
            <a:ext cx="1417320" cy="914400"/>
          </a:xfrm>
          <a:prstGeom prst="rect">
            <a:avLst/>
          </a:prstGeom>
          <a:noFill/>
        </p:spPr>
        <p:txBody>
          <a:bodyPr wrap="none" tIns="16459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GitHub
Teams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7344" y="251460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D6FF7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77656" y="2194560"/>
            <a:ext cx="1417320" cy="914400"/>
          </a:xfrm>
          <a:prstGeom prst="rect">
            <a:avLst/>
          </a:prstGeom>
          <a:solidFill>
            <a:srgbClr val="1A4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77656" y="2194560"/>
            <a:ext cx="1417320" cy="914400"/>
          </a:xfrm>
          <a:prstGeom prst="rect">
            <a:avLst/>
          </a:prstGeom>
          <a:noFill/>
        </p:spPr>
        <p:txBody>
          <a:bodyPr wrap="none" tIns="16459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Highlander
ODL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13264" y="2514600"/>
            <a:ext cx="201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D6FF7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23576" y="2194560"/>
            <a:ext cx="1417320" cy="914400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23576" y="2194560"/>
            <a:ext cx="1417320" cy="914400"/>
          </a:xfrm>
          <a:prstGeom prst="rect">
            <a:avLst/>
          </a:prstGeom>
          <a:noFill/>
        </p:spPr>
        <p:txBody>
          <a:bodyPr wrap="none" tIns="16459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OKR
Proof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" y="3182112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606E"/>
                </a:solidFill>
                <a:latin typeface="Calibri"/>
              </a:rPr>
              <a:t>Governs all use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93976" y="3182112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606E"/>
                </a:solidFill>
                <a:latin typeface="Calibri"/>
              </a:rPr>
              <a:t>Course + signature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39896" y="3182112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606E"/>
                </a:solidFill>
                <a:latin typeface="Calibri"/>
              </a:rPr>
              <a:t>16-module cert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85816" y="3182112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606E"/>
                </a:solidFill>
                <a:latin typeface="Calibri"/>
              </a:rPr>
              <a:t>Desktop or 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31736" y="3182112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606E"/>
                </a:solidFill>
                <a:latin typeface="Calibri"/>
              </a:rPr>
              <a:t>Audit trail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77656" y="3182112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606E"/>
                </a:solidFill>
                <a:latin typeface="Calibri"/>
              </a:rPr>
              <a:t>Metrics engine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23576" y="3182112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606E"/>
                </a:solidFill>
                <a:latin typeface="Calibri"/>
              </a:rPr>
              <a:t>Board narrative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5212080"/>
            <a:ext cx="11548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D6FF7"/>
                </a:solidFill>
                <a:latin typeface="Calibri"/>
              </a:rPr>
              <a:t>Zone 1 → Zone 2 → Zone 3 → No-Drive   |   The data type determines which zone applies — not the tool used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5577840"/>
            <a:ext cx="11548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1D9"/>
                </a:solidFill>
                <a:latin typeface="Calibri"/>
              </a:rPr>
              <a:t>Every citizen commit flows into Highlander automatically. No manual reporting required.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64592"/>
            <a:ext cx="1924812" cy="256032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GOVERNANCE &amp;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AI Acceptable Use Policy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1640312" cy="22860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3444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606E"/>
                </a:solidFill>
                <a:latin typeface="Calibri"/>
              </a:rPr>
              <a:t>The document that makes us defensible.  Required by SOC2 CC6.1 (access control) and ISO 27001 A.5.10 (acceptable use).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00200"/>
            <a:ext cx="11640312" cy="56692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65506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ALLOWED — Zone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655064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1D9"/>
                </a:solidFill>
                <a:latin typeface="Calibri"/>
              </a:rPr>
              <a:t>Public data only. No company information. No approval needed. Just use Claude.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03704"/>
            <a:ext cx="11640312" cy="566928"/>
          </a:xfrm>
          <a:prstGeom prst="rect">
            <a:avLst/>
          </a:prstGeom>
          <a:solidFill>
            <a:srgbClr val="0D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225856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ALLOWED WITH PROCESS — Zone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258568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1D9"/>
                </a:solidFill>
                <a:latin typeface="Calibri"/>
              </a:rPr>
              <a:t>Internal non-confidential data. GitHub repo required. Code review before any merge.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807208"/>
            <a:ext cx="11640312" cy="56692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86207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ALLOWED WITH FULL PROCESS — Zone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862072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1D9"/>
                </a:solidFill>
                <a:latin typeface="Calibri"/>
              </a:rPr>
              <a:t>Confidential / PII / client data. Requires: Jira ticket + approved MCP only + manager sign-off + full audit trail.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410712"/>
            <a:ext cx="11640312" cy="566928"/>
          </a:xfrm>
          <a:prstGeom prst="rect">
            <a:avLst/>
          </a:prstGeom>
          <a:solidFill>
            <a:srgbClr val="2A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346557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4A3A"/>
                </a:solidFill>
                <a:latin typeface="Calibri"/>
              </a:rPr>
              <a:t>PROHIBITED — No-Drive Zone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3465576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1D9"/>
                </a:solidFill>
                <a:latin typeface="Calibri"/>
              </a:rPr>
              <a:t>Credentials, secrets, bypassing guardrails, unapproved tools, consumer claude.ai with company data.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014216"/>
            <a:ext cx="11640312" cy="566928"/>
          </a:xfrm>
          <a:prstGeom prst="rect">
            <a:avLst/>
          </a:prstGeom>
          <a:solidFill>
            <a:srgbClr val="2A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40690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4A3A"/>
                </a:solidFill>
                <a:latin typeface="Calibri"/>
              </a:rPr>
              <a:t>PROHIBITED — Unapproved AI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406908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1D9"/>
                </a:solidFill>
                <a:latin typeface="Calibri"/>
              </a:rPr>
              <a:t>Consumer ChatGPT, Gemini, or any non-enterprise AI tool with company data. Claude Teams is the only approved AI.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617720"/>
            <a:ext cx="11640312" cy="566928"/>
          </a:xfrm>
          <a:prstGeom prst="rect">
            <a:avLst/>
          </a:prstGeom>
          <a:solidFill>
            <a:srgbClr val="2A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467258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  <a:latin typeface="Calibri"/>
              </a:rPr>
              <a:t>VIOLATION CONSEQUENCE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4672584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1D9"/>
                </a:solidFill>
                <a:latin typeface="Calibri"/>
              </a:rPr>
              <a:t>First offense: mandatory re-certification. Second offense: license revocation. Intentional bypass: disciplinary action.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64592"/>
            <a:ext cx="1924812" cy="256032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GOVERNANCE &amp;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The Driving Zones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1640312" cy="22860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3444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FF7"/>
                </a:solidFill>
                <a:latin typeface="Calibri"/>
              </a:rPr>
              <a:t>The data determines the zone. The zone determines the process. No gray areas.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572768"/>
          <a:ext cx="11640312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920240"/>
                <a:gridCol w="2926080"/>
                <a:gridCol w="4782312"/>
              </a:tblGrid>
              <a:tr h="841248">
                <a:tc>
                  <a:txBody>
                    <a:bodyPr wrap="square" lIns="54864" rIns="54864" tIns="36576" bIns="36576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Zone</a:t>
                      </a:r>
                    </a:p>
                  </a:txBody>
                  <a:tcPr>
                    <a:solidFill>
                      <a:srgbClr val="1A48BB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Analogy</a:t>
                      </a:r>
                    </a:p>
                  </a:txBody>
                  <a:tcPr>
                    <a:solidFill>
                      <a:srgbClr val="1A48BB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Data Involved</a:t>
                      </a:r>
                    </a:p>
                  </a:txBody>
                  <a:tcPr>
                    <a:solidFill>
                      <a:srgbClr val="1A48BB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Process Required</a:t>
                      </a:r>
                    </a:p>
                  </a:txBody>
                  <a:tcPr>
                    <a:solidFill>
                      <a:srgbClr val="1A48BB"/>
                    </a:solidFill>
                  </a:tcPr>
                </a:tc>
              </a:tr>
              <a:tr h="841248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Zone 1
Private Property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00" b="0" i="0">
                          <a:solidFill>
                            <a:srgbClr val="CCD1D9"/>
                          </a:solidFill>
                          <a:latin typeface="Calibri"/>
                        </a:rPr>
                        <a:t>Your driveway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00" b="0" i="0">
                          <a:solidFill>
                            <a:srgbClr val="CCD1D9"/>
                          </a:solidFill>
                          <a:latin typeface="Calibri"/>
                        </a:rPr>
                        <a:t>Public data only. No company information.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00" b="0" i="0">
                          <a:solidFill>
                            <a:srgbClr val="CCD1D9"/>
                          </a:solidFill>
                          <a:latin typeface="Calibri"/>
                        </a:rPr>
                        <a:t>None — just use Claude.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841248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Zone 2
Residential</a:t>
                      </a:r>
                    </a:p>
                  </a:txBody>
                  <a:tcPr>
                    <a:solidFill>
                      <a:srgbClr val="131620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00" b="0" i="0">
                          <a:solidFill>
                            <a:srgbClr val="CCD1D9"/>
                          </a:solidFill>
                          <a:latin typeface="Calibri"/>
                        </a:rPr>
                        <a:t>Neighborhood streets</a:t>
                      </a:r>
                    </a:p>
                  </a:txBody>
                  <a:tcPr>
                    <a:solidFill>
                      <a:srgbClr val="131620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00" b="0" i="0">
                          <a:solidFill>
                            <a:srgbClr val="CCD1D9"/>
                          </a:solidFill>
                          <a:latin typeface="Calibri"/>
                        </a:rPr>
                        <a:t>Internal, non-confidential. No PII or client data.</a:t>
                      </a:r>
                    </a:p>
                  </a:txBody>
                  <a:tcPr>
                    <a:solidFill>
                      <a:srgbClr val="131620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00" b="0" i="0">
                          <a:solidFill>
                            <a:srgbClr val="CCD1D9"/>
                          </a:solidFill>
                          <a:latin typeface="Calibri"/>
                        </a:rPr>
                        <a:t>GitHub repo + branch protection + code review before merge.</a:t>
                      </a:r>
                    </a:p>
                  </a:txBody>
                  <a:tcPr>
                    <a:solidFill>
                      <a:srgbClr val="131620"/>
                    </a:solidFill>
                  </a:tcPr>
                </a:tc>
              </a:tr>
              <a:tr h="841248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Zone 3
Highway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00" b="0" i="0">
                          <a:solidFill>
                            <a:srgbClr val="CCD1D9"/>
                          </a:solidFill>
                          <a:latin typeface="Calibri"/>
                        </a:rPr>
                        <a:t>Highway driving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00" b="0" i="0">
                          <a:solidFill>
                            <a:srgbClr val="CCD1D9"/>
                          </a:solidFill>
                          <a:latin typeface="Calibri"/>
                        </a:rPr>
                        <a:t>Confidential / PII / client data, MCP servers, production systems.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00" b="0" i="0">
                          <a:solidFill>
                            <a:srgbClr val="CCD1D9"/>
                          </a:solidFill>
                          <a:latin typeface="Calibri"/>
                        </a:rPr>
                        <a:t>Zone 2 + Jira ticket + approved MCP servers only + audit logging + manager review.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841248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00" b="1" i="0">
                          <a:solidFill>
                            <a:srgbClr val="E84A3A"/>
                          </a:solidFill>
                          <a:latin typeface="Calibri"/>
                        </a:rPr>
                        <a:t>No-Drive Zone
Zero Tolerance</a:t>
                      </a:r>
                    </a:p>
                  </a:txBody>
                  <a:tcPr>
                    <a:solidFill>
                      <a:srgbClr val="2A0808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00" b="0" i="0">
                          <a:solidFill>
                            <a:srgbClr val="CCD1D9"/>
                          </a:solidFill>
                          <a:latin typeface="Calibri"/>
                        </a:rPr>
                        <a:t>Drunk driving</a:t>
                      </a:r>
                    </a:p>
                  </a:txBody>
                  <a:tcPr>
                    <a:solidFill>
                      <a:srgbClr val="2A0808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00" b="0" i="0">
                          <a:solidFill>
                            <a:srgbClr val="CCD1D9"/>
                          </a:solidFill>
                          <a:latin typeface="Calibri"/>
                        </a:rPr>
                        <a:t>Credentials, secrets, bypassing guardrails, unapproved tools.</a:t>
                      </a:r>
                    </a:p>
                  </a:txBody>
                  <a:tcPr>
                    <a:solidFill>
                      <a:srgbClr val="2A0808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00" b="0" i="0">
                          <a:solidFill>
                            <a:srgbClr val="CCD1D9"/>
                          </a:solidFill>
                          <a:latin typeface="Calibri"/>
                        </a:rPr>
                        <a:t>Prohibited always. Violation = license revocation.</a:t>
                      </a:r>
                    </a:p>
                  </a:txBody>
                  <a:tcPr>
                    <a:solidFill>
                      <a:srgbClr val="2A080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5925312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06E"/>
                </a:solidFill>
                <a:latin typeface="Calibri"/>
              </a:rPr>
              <a:t>Override rule: Any MCP server connecting to a live system auto-escalates to Zone 3, regardless of what data you think you're working with.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64592"/>
            <a:ext cx="1924812" cy="256032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LICENSING &amp; TOOLING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Licensing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1640312" cy="22860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371600"/>
            <a:ext cx="3566160" cy="384048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371600"/>
            <a:ext cx="3566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NOW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755648"/>
            <a:ext cx="3566160" cy="29260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755648"/>
            <a:ext cx="3566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1">
                <a:solidFill>
                  <a:srgbClr val="2D6FF7"/>
                </a:solidFill>
                <a:latin typeface="Calibri"/>
              </a:rPr>
              <a:t>Claude Teams Plan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048256"/>
            <a:ext cx="3566160" cy="3840480"/>
          </a:xfrm>
          <a:prstGeom prst="rect">
            <a:avLst/>
          </a:prstGeom>
          <a:solidFill>
            <a:srgbClr val="13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2121408"/>
            <a:ext cx="338327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 i="0">
                <a:solidFill>
                  <a:srgbClr val="CCD1D9"/>
                </a:solidFill>
                <a:latin typeface="Calibri"/>
              </a:rPr>
              <a:t>• $30 / seat / month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CCD1D9"/>
                </a:solidFill>
                <a:latin typeface="Calibri"/>
              </a:rPr>
              <a:t>• Already contracted — move immediately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CCD1D9"/>
                </a:solidFill>
                <a:latin typeface="Calibri"/>
              </a:rPr>
              <a:t>• Sandbox (Seatbelt / bubblewrap)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CCD1D9"/>
                </a:solidFill>
                <a:latin typeface="Calibri"/>
              </a:rPr>
              <a:t>• managed-settings.json controls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CCD1D9"/>
                </a:solidFill>
                <a:latin typeface="Calibri"/>
              </a:rPr>
              <a:t>• managed-mcp.json allowlist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CCD1D9"/>
                </a:solidFill>
                <a:latin typeface="Calibri"/>
              </a:rPr>
              <a:t>• SSO / SAML via Azure AD or Okta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CCD1D9"/>
                </a:solidFill>
                <a:latin typeface="Calibri"/>
              </a:rPr>
              <a:t>• Usage analytics (per-user, CSV export)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CCD1D9"/>
                </a:solidFill>
                <a:latin typeface="Calibri"/>
              </a:rPr>
              <a:t>• Hooks for audit logging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87368" y="1371600"/>
            <a:ext cx="3566160" cy="384048"/>
          </a:xfrm>
          <a:prstGeom prst="rect">
            <a:avLst/>
          </a:prstGeom>
          <a:solidFill>
            <a:srgbClr val="1C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87368" y="1371600"/>
            <a:ext cx="3566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ALSO NOW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87368" y="1755648"/>
            <a:ext cx="3566160" cy="29260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87368" y="1755648"/>
            <a:ext cx="3566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1">
                <a:solidFill>
                  <a:srgbClr val="1C7A3E"/>
                </a:solidFill>
                <a:latin typeface="Calibri"/>
              </a:rPr>
              <a:t>GitHub Teams Plan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87368" y="2048256"/>
            <a:ext cx="3566160" cy="3840480"/>
          </a:xfrm>
          <a:prstGeom prst="rect">
            <a:avLst/>
          </a:prstGeom>
          <a:solidFill>
            <a:srgbClr val="13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78807" y="2121408"/>
            <a:ext cx="338327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 i="0">
                <a:solidFill>
                  <a:srgbClr val="CCD1D9"/>
                </a:solidFill>
                <a:latin typeface="Calibri"/>
              </a:rPr>
              <a:t>• $4 / seat / month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CCD1D9"/>
                </a:solidFill>
                <a:latin typeface="Calibri"/>
              </a:rPr>
              <a:t>• Version control for all citizen work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CCD1D9"/>
                </a:solidFill>
                <a:latin typeface="Calibri"/>
              </a:rPr>
              <a:t>• 180-day audit log (org-level)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CCD1D9"/>
                </a:solidFill>
                <a:latin typeface="Calibri"/>
              </a:rPr>
              <a:t>• Branch protection + PR reviews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CCD1D9"/>
                </a:solidFill>
                <a:latin typeface="Calibri"/>
              </a:rPr>
              <a:t>• Highlander webhook ingestion point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CCD1D9"/>
                </a:solidFill>
                <a:latin typeface="Calibri"/>
              </a:rPr>
              <a:t>• Compensating SOC2 audit trail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CCD1D9"/>
                </a:solidFill>
                <a:latin typeface="Calibri"/>
              </a:rPr>
              <a:t>• Rollback for any AI mistake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54696" y="1371600"/>
            <a:ext cx="3566160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54696" y="1371600"/>
            <a:ext cx="3566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FUTURE (After Q1)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54696" y="1755648"/>
            <a:ext cx="3566160" cy="29260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54696" y="1755648"/>
            <a:ext cx="3566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1">
                <a:solidFill>
                  <a:srgbClr val="F5A623"/>
                </a:solidFill>
                <a:latin typeface="Calibri"/>
              </a:rPr>
              <a:t>Anthropic Enterprise API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54696" y="2048256"/>
            <a:ext cx="3566160" cy="3840480"/>
          </a:xfrm>
          <a:prstGeom prst="rect">
            <a:avLst/>
          </a:prstGeom>
          <a:solidFill>
            <a:srgbClr val="13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46136" y="2121408"/>
            <a:ext cx="338327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 i="0">
                <a:solidFill>
                  <a:srgbClr val="CCD1D9"/>
                </a:solidFill>
                <a:latin typeface="Calibri"/>
              </a:rPr>
              <a:t>• Per-user token-level usage tracking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CCD1D9"/>
                </a:solidFill>
                <a:latin typeface="Calibri"/>
              </a:rPr>
              <a:t>• Native audit logs (180-day export)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CCD1D9"/>
                </a:solidFill>
                <a:latin typeface="Calibri"/>
              </a:rPr>
              <a:t>• Compliance API → SIEM integration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CCD1D9"/>
                </a:solidFill>
                <a:latin typeface="Calibri"/>
              </a:rPr>
              <a:t>• SCIM auto-provisioning/deprovisioning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CCD1D9"/>
                </a:solidFill>
                <a:latin typeface="Calibri"/>
              </a:rPr>
              <a:t>• Custom data retention (ZDR option)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CCD1D9"/>
                </a:solidFill>
                <a:latin typeface="Calibri"/>
              </a:rPr>
              <a:t>• Advanced admin controls + RBAC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CCD1D9"/>
                </a:solidFill>
                <a:latin typeface="Calibri"/>
              </a:rPr>
              <a:t>• Evaluate once usage patterns are known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6080760"/>
            <a:ext cx="11548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606E"/>
                </a:solidFill>
                <a:latin typeface="Calibri"/>
              </a:rPr>
              <a:t>Why Teams is sufficient to start: sandbox + managed settings + hooks + SSO are all available on the Teams plan. GitHub fills the audit trail gap.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64592"/>
            <a:ext cx="1924812" cy="256032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LICENSING &amp; TOOLING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Claude Desktop vs Claude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1640312" cy="22860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3444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606E"/>
                </a:solidFill>
                <a:latin typeface="Calibri"/>
              </a:rPr>
              <a:t>Different tools for different users. Both connect to MCP servers. Only Claude Code has the full managed settings governance stack.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5669280" cy="347472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463040"/>
            <a:ext cx="5669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Claude Desktop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874519"/>
            <a:ext cx="5669280" cy="47548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947672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6FF7"/>
                </a:solidFill>
                <a:latin typeface="Calibri"/>
              </a:rPr>
              <a:t>Who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947672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1D9"/>
                </a:solidFill>
                <a:latin typeface="Calibri"/>
              </a:rPr>
              <a:t>Non-technical citizens — no terminal required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368296"/>
            <a:ext cx="5669280" cy="475488"/>
          </a:xfrm>
          <a:prstGeom prst="rect">
            <a:avLst/>
          </a:prstGeom>
          <a:solidFill>
            <a:srgbClr val="13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441448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6FF7"/>
                </a:solidFill>
                <a:latin typeface="Calibri"/>
              </a:rPr>
              <a:t>Interface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441448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1D9"/>
                </a:solidFill>
                <a:latin typeface="Calibri"/>
              </a:rPr>
              <a:t>GUI chat app with visual diffs, drag-and-drop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862072"/>
            <a:ext cx="5669280" cy="47548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935224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6FF7"/>
                </a:solidFill>
                <a:latin typeface="Calibri"/>
              </a:rPr>
              <a:t>Setup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935224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1D9"/>
                </a:solidFill>
                <a:latin typeface="Calibri"/>
              </a:rPr>
              <a:t>Download → sign in → select folder → describe task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355848"/>
            <a:ext cx="5669280" cy="475488"/>
          </a:xfrm>
          <a:prstGeom prst="rect">
            <a:avLst/>
          </a:prstGeom>
          <a:solidFill>
            <a:srgbClr val="13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42900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6FF7"/>
                </a:solidFill>
                <a:latin typeface="Calibri"/>
              </a:rPr>
              <a:t>MCP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429000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1D9"/>
                </a:solidFill>
                <a:latin typeface="Calibri"/>
              </a:rPr>
              <a:t>One-click Desktop Extensions (.mcpb files)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849624"/>
            <a:ext cx="5669280" cy="47548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922776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6FF7"/>
                </a:solidFill>
                <a:latin typeface="Calibri"/>
              </a:rPr>
              <a:t>Workflow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3922776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1D9"/>
                </a:solidFill>
                <a:latin typeface="Calibri"/>
              </a:rPr>
              <a:t>Conversational, iterative, visual approval of changes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343400"/>
            <a:ext cx="5669280" cy="475488"/>
          </a:xfrm>
          <a:prstGeom prst="rect">
            <a:avLst/>
          </a:prstGeom>
          <a:solidFill>
            <a:srgbClr val="13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416552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6FF7"/>
                </a:solidFill>
                <a:latin typeface="Calibri"/>
              </a:rPr>
              <a:t>Background 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416552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1D9"/>
                </a:solidFill>
                <a:latin typeface="Calibri"/>
              </a:rPr>
              <a:t>Cowork tab — spawn agents that run while you work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837176"/>
            <a:ext cx="5669280" cy="47548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910328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6FF7"/>
                </a:solidFill>
                <a:latin typeface="Calibri"/>
              </a:rPr>
              <a:t>Governance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4910328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1D9"/>
                </a:solidFill>
                <a:latin typeface="Calibri"/>
              </a:rPr>
              <a:t>Limited managed settings; relies on GitHub as guardrail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330952"/>
            <a:ext cx="5669280" cy="475488"/>
          </a:xfrm>
          <a:prstGeom prst="rect">
            <a:avLst/>
          </a:prstGeom>
          <a:solidFill>
            <a:srgbClr val="13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5404104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6FF7"/>
                </a:solidFill>
                <a:latin typeface="Calibri"/>
              </a:rPr>
              <a:t>Best for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5404104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1D9"/>
                </a:solidFill>
                <a:latin typeface="Calibri"/>
              </a:rPr>
              <a:t>Reports, data pipelines, automations, business analysis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6207" y="1463040"/>
            <a:ext cx="5669280" cy="347472"/>
          </a:xfrm>
          <a:prstGeom prst="rect">
            <a:avLst/>
          </a:prstGeom>
          <a:solidFill>
            <a:srgbClr val="1A4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36207" y="1463040"/>
            <a:ext cx="56692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Claude Code (Terminal)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36207" y="1874519"/>
            <a:ext cx="5669280" cy="47548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27647" y="1947672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48BB"/>
                </a:solidFill>
                <a:latin typeface="Calibri"/>
              </a:rPr>
              <a:t>Who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07808" y="1947672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1D9"/>
                </a:solidFill>
                <a:latin typeface="Calibri"/>
              </a:rPr>
              <a:t>More technical citizens comfortable with the terminal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36207" y="2368296"/>
            <a:ext cx="5669280" cy="475488"/>
          </a:xfrm>
          <a:prstGeom prst="rect">
            <a:avLst/>
          </a:prstGeom>
          <a:solidFill>
            <a:srgbClr val="13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27647" y="2441448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48BB"/>
                </a:solidFill>
                <a:latin typeface="Calibri"/>
              </a:rPr>
              <a:t>Interface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07808" y="2441448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1D9"/>
                </a:solidFill>
                <a:latin typeface="Calibri"/>
              </a:rPr>
              <a:t>CLI — runs in terminal, diffs shown in text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36207" y="2862072"/>
            <a:ext cx="5669280" cy="47548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27647" y="2935224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48BB"/>
                </a:solidFill>
                <a:latin typeface="Calibri"/>
              </a:rPr>
              <a:t>Setup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07808" y="2935224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1D9"/>
                </a:solidFill>
                <a:latin typeface="Calibri"/>
              </a:rPr>
              <a:t>Terminal → navigate to project folder → run `claude`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36207" y="3355848"/>
            <a:ext cx="5669280" cy="475488"/>
          </a:xfrm>
          <a:prstGeom prst="rect">
            <a:avLst/>
          </a:prstGeom>
          <a:solidFill>
            <a:srgbClr val="13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27647" y="342900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48BB"/>
                </a:solidFill>
                <a:latin typeface="Calibri"/>
              </a:rPr>
              <a:t>MCP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07808" y="3429000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1D9"/>
                </a:solidFill>
                <a:latin typeface="Calibri"/>
              </a:rPr>
              <a:t>Via settings.json (JSON config, more control)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36207" y="3849624"/>
            <a:ext cx="5669280" cy="47548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27647" y="3922776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48BB"/>
                </a:solidFill>
                <a:latin typeface="Calibri"/>
              </a:rPr>
              <a:t>Workflow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07808" y="3922776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1D9"/>
                </a:solidFill>
                <a:latin typeface="Calibri"/>
              </a:rPr>
              <a:t>Full Git automation — branch, commit, PR without GitHub UI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36207" y="4343400"/>
            <a:ext cx="5669280" cy="475488"/>
          </a:xfrm>
          <a:prstGeom prst="rect">
            <a:avLst/>
          </a:prstGeom>
          <a:solidFill>
            <a:srgbClr val="13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27647" y="4416552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48BB"/>
                </a:solidFill>
                <a:latin typeface="Calibri"/>
              </a:rPr>
              <a:t>Background work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07808" y="4416552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1D9"/>
                </a:solidFill>
                <a:latin typeface="Calibri"/>
              </a:rPr>
              <a:t>Full shell automation, scripts, CI/CD integration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36207" y="4837176"/>
            <a:ext cx="5669280" cy="47548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27647" y="4910328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48BB"/>
                </a:solidFill>
                <a:latin typeface="Calibri"/>
              </a:rPr>
              <a:t>Governance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07808" y="4910328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1D9"/>
                </a:solidFill>
                <a:latin typeface="Calibri"/>
              </a:rPr>
              <a:t>Full managed-settings.json stack — strongest compliance posture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36207" y="5330952"/>
            <a:ext cx="5669280" cy="475488"/>
          </a:xfrm>
          <a:prstGeom prst="rect">
            <a:avLst/>
          </a:prstGeom>
          <a:solidFill>
            <a:srgbClr val="13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27647" y="5404104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48BB"/>
                </a:solidFill>
                <a:latin typeface="Calibri"/>
              </a:rPr>
              <a:t>Best for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07808" y="5404104"/>
            <a:ext cx="4160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1D9"/>
                </a:solidFill>
                <a:latin typeface="Calibri"/>
              </a:rPr>
              <a:t>Complex projects, multi-file work, automated pipelines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64592"/>
            <a:ext cx="1924812" cy="256032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LICENSING &amp; TOOLING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GitHub Teams vs No GitHub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1640312" cy="22860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3444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6FF7"/>
                </a:solidFill>
                <a:latin typeface="Calibri"/>
              </a:rPr>
              <a:t>GitHub Teams IS the compliance infrastructure on the Teams plan. Without it, we have no audit trail, no rollback, no Highlander tracking.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572768"/>
          <a:ext cx="11640312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453128"/>
                <a:gridCol w="4443984"/>
              </a:tblGrid>
              <a:tr h="452628">
                <a:tc>
                  <a:txBody>
                    <a:bodyPr wrap="square" lIns="54864" rIns="54864" tIns="36576" bIns="36576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>
                    <a:solidFill>
                      <a:srgbClr val="1A48BB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With GitHub Teams  ($4/seat/mo)</a:t>
                      </a:r>
                    </a:p>
                  </a:txBody>
                  <a:tcPr>
                    <a:solidFill>
                      <a:srgbClr val="1A48BB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Without GitHub</a:t>
                      </a:r>
                    </a:p>
                  </a:txBody>
                  <a:tcPr>
                    <a:solidFill>
                      <a:srgbClr val="1A48BB"/>
                    </a:solidFill>
                  </a:tcPr>
                </a:tc>
              </a:tr>
              <a:tr h="452628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Version control &amp; rollback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0" i="0">
                          <a:solidFill>
                            <a:srgbClr val="CCD1D9"/>
                          </a:solidFill>
                          <a:latin typeface="Calibri"/>
                        </a:rPr>
                        <a:t>Every change tracked. Rollback any AI mistake instantly.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0" i="0">
                          <a:solidFill>
                            <a:srgbClr val="E84A3A"/>
                          </a:solidFill>
                          <a:latin typeface="Calibri"/>
                        </a:rPr>
                        <a:t>No rollback. AI errors are permanent.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452628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Audit trail</a:t>
                      </a:r>
                    </a:p>
                  </a:txBody>
                  <a:tcPr>
                    <a:solidFill>
                      <a:srgbClr val="131620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0" i="0">
                          <a:solidFill>
                            <a:srgbClr val="CCD1D9"/>
                          </a:solidFill>
                          <a:latin typeface="Calibri"/>
                        </a:rPr>
                        <a:t>GitHub org audit log — 180-day retention. Owner-accessible.</a:t>
                      </a:r>
                    </a:p>
                  </a:txBody>
                  <a:tcPr>
                    <a:solidFill>
                      <a:srgbClr val="131620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0" i="0">
                          <a:solidFill>
                            <a:srgbClr val="E84A3A"/>
                          </a:solidFill>
                          <a:latin typeface="Calibri"/>
                        </a:rPr>
                        <a:t>No audit trail. Cannot demonstrate controls to auditors.</a:t>
                      </a:r>
                    </a:p>
                  </a:txBody>
                  <a:tcPr>
                    <a:solidFill>
                      <a:srgbClr val="131620"/>
                    </a:solidFill>
                  </a:tcPr>
                </a:tc>
              </a:tr>
              <a:tr h="452628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Branch protection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0" i="0">
                          <a:solidFill>
                            <a:srgbClr val="CCD1D9"/>
                          </a:solidFill>
                          <a:latin typeface="Calibri"/>
                        </a:rPr>
                        <a:t>Require PR reviews before merge. Block direct pushes to main.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0" i="0">
                          <a:solidFill>
                            <a:srgbClr val="E84A3A"/>
                          </a:solidFill>
                          <a:latin typeface="Calibri"/>
                        </a:rPr>
                        <a:t>No protection. Anyone can push anything directly.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452628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Code review gate</a:t>
                      </a:r>
                    </a:p>
                  </a:txBody>
                  <a:tcPr>
                    <a:solidFill>
                      <a:srgbClr val="131620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0" i="0">
                          <a:solidFill>
                            <a:srgbClr val="CCD1D9"/>
                          </a:solidFill>
                          <a:latin typeface="Calibri"/>
                        </a:rPr>
                        <a:t>Human approval required before AI-generated work is merged.</a:t>
                      </a:r>
                    </a:p>
                  </a:txBody>
                  <a:tcPr>
                    <a:solidFill>
                      <a:srgbClr val="131620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0" i="0">
                          <a:solidFill>
                            <a:srgbClr val="E84A3A"/>
                          </a:solidFill>
                          <a:latin typeface="Calibri"/>
                        </a:rPr>
                        <a:t>No review gate. AI output goes directly into use.</a:t>
                      </a:r>
                    </a:p>
                  </a:txBody>
                  <a:tcPr>
                    <a:solidFill>
                      <a:srgbClr val="131620"/>
                    </a:solidFill>
                  </a:tcPr>
                </a:tc>
              </a:tr>
              <a:tr h="452628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Highlander tracking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0" i="0">
                          <a:solidFill>
                            <a:srgbClr val="CCD1D9"/>
                          </a:solidFill>
                          <a:latin typeface="Calibri"/>
                        </a:rPr>
                        <a:t>GitHub webhook → Highlander ODL → commit velocity, AI co-auth, OKR attribution.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0" i="0">
                          <a:solidFill>
                            <a:srgbClr val="E84A3A"/>
                          </a:solidFill>
                          <a:latin typeface="Calibri"/>
                        </a:rPr>
                        <a:t>Cannot connect to Highlander. No business value measurement.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452628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SOC2 compensating control</a:t>
                      </a:r>
                    </a:p>
                  </a:txBody>
                  <a:tcPr>
                    <a:solidFill>
                      <a:srgbClr val="131620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0" i="0">
                          <a:solidFill>
                            <a:srgbClr val="CCD1D9"/>
                          </a:solidFill>
                          <a:latin typeface="Calibri"/>
                        </a:rPr>
                        <a:t>GitHub log + hook logging = defensible CC7.2 compensating control.</a:t>
                      </a:r>
                    </a:p>
                  </a:txBody>
                  <a:tcPr>
                    <a:solidFill>
                      <a:srgbClr val="131620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0" i="0">
                          <a:solidFill>
                            <a:srgbClr val="E84A3A"/>
                          </a:solidFill>
                          <a:latin typeface="Calibri"/>
                        </a:rPr>
                        <a:t>No path to SOC2 compliance on Teams plan.</a:t>
                      </a:r>
                    </a:p>
                  </a:txBody>
                  <a:tcPr>
                    <a:solidFill>
                      <a:srgbClr val="131620"/>
                    </a:solidFill>
                  </a:tcPr>
                </a:tc>
              </a:tr>
              <a:tr h="452628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Team collaboration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0" i="0">
                          <a:solidFill>
                            <a:srgbClr val="CCD1D9"/>
                          </a:solidFill>
                          <a:latin typeface="Calibri"/>
                        </a:rPr>
                        <a:t>PRs, issues, project boards. Non-technical reviewers can participate.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0" i="0">
                          <a:solidFill>
                            <a:srgbClr val="CCD1D9"/>
                          </a:solidFill>
                          <a:latin typeface="Calibri"/>
                        </a:rPr>
                        <a:t>Siloed. Work stays on individual machines.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452628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CI/CD &amp; automation</a:t>
                      </a:r>
                    </a:p>
                  </a:txBody>
                  <a:tcPr>
                    <a:solidFill>
                      <a:srgbClr val="131620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0" i="0">
                          <a:solidFill>
                            <a:srgbClr val="CCD1D9"/>
                          </a:solidFill>
                          <a:latin typeface="Calibri"/>
                        </a:rPr>
                        <a:t>GitHub Actions can run tests, lint, deploy on every PR.</a:t>
                      </a:r>
                    </a:p>
                  </a:txBody>
                  <a:tcPr>
                    <a:solidFill>
                      <a:srgbClr val="131620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0" i="0">
                          <a:solidFill>
                            <a:srgbClr val="CCD1D9"/>
                          </a:solidFill>
                          <a:latin typeface="Calibri"/>
                        </a:rPr>
                        <a:t>No automation. Manual deployment only.</a:t>
                      </a:r>
                    </a:p>
                  </a:txBody>
                  <a:tcPr>
                    <a:solidFill>
                      <a:srgbClr val="131620"/>
                    </a:solidFill>
                  </a:tcPr>
                </a:tc>
              </a:tr>
              <a:tr h="452628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0" i="0">
                          <a:solidFill>
                            <a:srgbClr val="CCD1D9"/>
                          </a:solidFill>
                          <a:latin typeface="Calibri"/>
                        </a:rPr>
                        <a:t>$100/month for 25 seats.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0" i="0">
                          <a:solidFill>
                            <a:srgbClr val="CCD1D9"/>
                          </a:solidFill>
                          <a:latin typeface="Calibri"/>
                        </a:rPr>
                        <a:t>$0 — but no compliance story, no tracking, no rollback.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6199632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A623"/>
                </a:solidFill>
                <a:latin typeface="Calibri"/>
              </a:rPr>
              <a:t>Bottom line: $4/seat/month is not optional infrastructure — it is the SOC2 compliance layer for the Teams plan.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64592"/>
            <a:ext cx="2011679" cy="256032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TECHNICAL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What We Control on Claude Teams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1640312" cy="22860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444752"/>
            <a:ext cx="11640312" cy="54864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51790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6FF7"/>
                </a:solidFill>
                <a:latin typeface="Calibri"/>
              </a:rPr>
              <a:t>managed-settings.json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42032" y="1490472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1D9"/>
                </a:solidFill>
                <a:latin typeface="Calibri"/>
              </a:rPr>
              <a:t>Permission deny rules, command restrictions, file access limits, network domain allowlist. Deployed by IT — users cannot override.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9248" y="14904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06E"/>
                </a:solidFill>
                <a:latin typeface="Calibri"/>
              </a:rPr>
              <a:t>Prevents Claude from accessing sensitive paths or running destructive commands.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20824"/>
            <a:ext cx="11640312" cy="548640"/>
          </a:xfrm>
          <a:prstGeom prst="rect">
            <a:avLst/>
          </a:prstGeom>
          <a:solidFill>
            <a:srgbClr val="13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209397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6FF7"/>
                </a:solidFill>
                <a:latin typeface="Calibri"/>
              </a:rPr>
              <a:t>managed-mcp.json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2032" y="2066543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1D9"/>
                </a:solidFill>
                <a:latin typeface="Calibri"/>
              </a:rPr>
              <a:t>Empty allowlist = lockdown mode. Only vetted MCP servers permitted. Deployed to system directories. Users cannot add unapproved servers.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9248" y="2066543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06E"/>
                </a:solidFill>
                <a:latin typeface="Calibri"/>
              </a:rPr>
              <a:t>Eliminates MCP supply-chain risk (tool-poisoning attacks, rug pulls, cross-server exfiltration).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596896"/>
            <a:ext cx="11640312" cy="54864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26700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6FF7"/>
                </a:solidFill>
                <a:latin typeface="Calibri"/>
              </a:rPr>
              <a:t>Global CLAUDE.md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2032" y="2642615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1D9"/>
                </a:solidFill>
                <a:latin typeface="Calibri"/>
              </a:rPr>
              <a:t>Governance rules injected into every session. Jira-first enforcement, no-credential rules, Driving Zone reminders. Users see it but cannot remove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99248" y="2642615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06E"/>
                </a:solidFill>
                <a:latin typeface="Calibri"/>
              </a:rPr>
              <a:t>Soft guardrail in every session. Primes the model before any task begins.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172968"/>
            <a:ext cx="11640312" cy="548640"/>
          </a:xfrm>
          <a:prstGeom prst="rect">
            <a:avLst/>
          </a:prstGeom>
          <a:solidFill>
            <a:srgbClr val="13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3246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6FF7"/>
                </a:solidFill>
                <a:latin typeface="Calibri"/>
              </a:rPr>
              <a:t>Hooks — PreToolUse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42032" y="3218687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1D9"/>
                </a:solidFill>
                <a:latin typeface="Calibri"/>
              </a:rPr>
              <a:t>Block: rm -rf, push to main/master, credential/secret patterns in commands. Shell commands evaluated before execution.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9248" y="3218687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06E"/>
                </a:solidFill>
                <a:latin typeface="Calibri"/>
              </a:rPr>
              <a:t>Hard stop on the most common accidental or malicious destructive actions.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749039"/>
            <a:ext cx="11640312" cy="54864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822191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6FF7"/>
                </a:solidFill>
                <a:latin typeface="Calibri"/>
              </a:rPr>
              <a:t>Hooks — PostToolUse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42032" y="3794759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1D9"/>
                </a:solidFill>
                <a:latin typeface="Calibri"/>
              </a:rPr>
              <a:t>Audit log: every tool use timestamped and written to log file. HTTP hook option: POST JSON to central endpoint for SIEM ingestion.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99248" y="379475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06E"/>
                </a:solidFill>
                <a:latin typeface="Calibri"/>
              </a:rPr>
              <a:t>Creates the compensating audit trail required for SOC2 CC7.2 on the Teams plan.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325112"/>
            <a:ext cx="11640312" cy="548640"/>
          </a:xfrm>
          <a:prstGeom prst="rect">
            <a:avLst/>
          </a:prstGeom>
          <a:solidFill>
            <a:srgbClr val="13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439826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6FF7"/>
                </a:solidFill>
                <a:latin typeface="Calibri"/>
              </a:rPr>
              <a:t>Sandbox (Seatbelt/bwrap)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42032" y="4370831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1D9"/>
                </a:solidFill>
                <a:latin typeface="Calibri"/>
              </a:rPr>
              <a:t>OS-level filesystem isolation (write only to allowed dirs) + network proxy (approved domains only). Cannot be bypassed by Claude prompts.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99248" y="4370831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06E"/>
                </a:solidFill>
                <a:latin typeface="Calibri"/>
              </a:rPr>
              <a:t>The only true enforcement layer. Even a compromised session cannot escape the sandbox.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901183"/>
            <a:ext cx="11640312" cy="54864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497433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6FF7"/>
                </a:solidFill>
                <a:latin typeface="Calibri"/>
              </a:rPr>
              <a:t>SSO / SAML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42032" y="4946903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1D9"/>
                </a:solidFill>
                <a:latin typeface="Calibri"/>
              </a:rPr>
              <a:t>Available on Teams. Integrates with Azure AD, Okta, Google Workspace. JIT provisioning on first login. Auth logging via your IdP.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99248" y="4946903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06E"/>
                </a:solidFill>
                <a:latin typeface="Calibri"/>
              </a:rPr>
              <a:t>Centralises access control. IdP logs provide authentication audit trail even without Claude native audit logs.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477255"/>
            <a:ext cx="11640312" cy="548640"/>
          </a:xfrm>
          <a:prstGeom prst="rect">
            <a:avLst/>
          </a:prstGeom>
          <a:solidFill>
            <a:srgbClr val="13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8" y="5550407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6FF7"/>
                </a:solidFill>
                <a:latin typeface="Calibri"/>
              </a:rPr>
              <a:t>Usage Analytics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42032" y="5522975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1D9"/>
                </a:solidFill>
                <a:latin typeface="Calibri"/>
              </a:rPr>
              <a:t>Per-user, per-model, per-day metrics. Suggestion acceptance rate, lines accepted. CSV export. ~1-day lag.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99248" y="5522975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06E"/>
                </a:solidFill>
                <a:latin typeface="Calibri"/>
              </a:rPr>
              <a:t>Not audit logs, but a program health signal. Shows who is active, which models are used.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64592"/>
            <a:ext cx="2011679" cy="256032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TECHNICAL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What We Don't Have — and How We Compensate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1640312" cy="22860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3444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606E"/>
                </a:solidFill>
                <a:latin typeface="Calibri"/>
              </a:rPr>
              <a:t>Teams plan lacks Enterprise-only detective controls. Each gap has a documented compensating control. Auditors accept compensating controls when they are intentional, documented, and consistently applied.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627632"/>
          <a:ext cx="11640312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114800"/>
                <a:gridCol w="4965192"/>
              </a:tblGrid>
              <a:tr h="655320">
                <a:tc>
                  <a:txBody>
                    <a:bodyPr wrap="square" lIns="54864" rIns="54864" tIns="36576" bIns="36576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Enterprise-Only Feature</a:t>
                      </a:r>
                    </a:p>
                  </a:txBody>
                  <a:tcPr>
                    <a:solidFill>
                      <a:srgbClr val="1A48BB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Our Compensating Control</a:t>
                      </a:r>
                    </a:p>
                  </a:txBody>
                  <a:tcPr>
                    <a:solidFill>
                      <a:srgbClr val="1A48BB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SOC2 Criteria Addressed</a:t>
                      </a:r>
                    </a:p>
                  </a:txBody>
                  <a:tcPr>
                    <a:solidFill>
                      <a:srgbClr val="1A48BB"/>
                    </a:solidFill>
                  </a:tcPr>
                </a:tc>
              </a:tr>
              <a:tr h="655320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Native audit logs
(180-day, JSON/CSV export)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0" i="0">
                          <a:solidFill>
                            <a:srgbClr val="CCD1D9"/>
                          </a:solidFill>
                          <a:latin typeface="Calibri"/>
                        </a:rPr>
                        <a:t>GitHub org audit log (180-day) + PostToolUse hook logging to local file or HTTP endpoint. Stream GitHub logs to S3/Datadog for 12-month retention.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0" i="0">
                          <a:solidFill>
                            <a:srgbClr val="CCD1D9"/>
                          </a:solidFill>
                          <a:latin typeface="Calibri"/>
                        </a:rPr>
                        <a:t>CC7.2 — System monitoring.
CC6.1 — Logical access.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655320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SCIM auto-deprovisioning</a:t>
                      </a:r>
                    </a:p>
                  </a:txBody>
                  <a:tcPr>
                    <a:solidFill>
                      <a:srgbClr val="131620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0" i="0">
                          <a:solidFill>
                            <a:srgbClr val="CCD1D9"/>
                          </a:solidFill>
                          <a:latin typeface="Calibri"/>
                        </a:rPr>
                        <a:t>SSO JIT provisioning + manual offboarding checklist (IT removes GitHub + Claude seat on HR termination event).</a:t>
                      </a:r>
                    </a:p>
                  </a:txBody>
                  <a:tcPr>
                    <a:solidFill>
                      <a:srgbClr val="131620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0" i="0">
                          <a:solidFill>
                            <a:srgbClr val="CCD1D9"/>
                          </a:solidFill>
                          <a:latin typeface="Calibri"/>
                        </a:rPr>
                        <a:t>CC6.1 — Logical access provisioning.
CC6.2 — Timely deprovisioning.</a:t>
                      </a:r>
                    </a:p>
                  </a:txBody>
                  <a:tcPr>
                    <a:solidFill>
                      <a:srgbClr val="131620"/>
                    </a:solidFill>
                  </a:tcPr>
                </a:tc>
              </a:tr>
              <a:tr h="655320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Compliance API
(programmatic access)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0" i="0">
                          <a:solidFill>
                            <a:srgbClr val="CCD1D9"/>
                          </a:solidFill>
                          <a:latin typeface="Calibri"/>
                        </a:rPr>
                        <a:t>Highlander GitHub ingestion provides commit-level activity data. Usage analytics CSV exported weekly for programme records.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0" i="0">
                          <a:solidFill>
                            <a:srgbClr val="CCD1D9"/>
                          </a:solidFill>
                          <a:latin typeface="Calibri"/>
                        </a:rPr>
                        <a:t>CC7.2 — Monitoring.
PI1.4 — Processing integrity.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655320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Custom data retention / ZDR</a:t>
                      </a:r>
                    </a:p>
                  </a:txBody>
                  <a:tcPr>
                    <a:solidFill>
                      <a:srgbClr val="131620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0" i="0">
                          <a:solidFill>
                            <a:srgbClr val="CCD1D9"/>
                          </a:solidFill>
                          <a:latin typeface="Calibri"/>
                        </a:rPr>
                        <a:t>Documented 90-day Teams retention policy + GitHub repo as permanent record. Accepted as proportional for our risk profile.</a:t>
                      </a:r>
                    </a:p>
                  </a:txBody>
                  <a:tcPr>
                    <a:solidFill>
                      <a:srgbClr val="131620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0" i="0">
                          <a:solidFill>
                            <a:srgbClr val="CCD1D9"/>
                          </a:solidFill>
                          <a:latin typeface="Calibri"/>
                        </a:rPr>
                        <a:t>ISO 27001 A.8.10 — Data lifecycle.</a:t>
                      </a:r>
                    </a:p>
                  </a:txBody>
                  <a:tcPr>
                    <a:solidFill>
                      <a:srgbClr val="131620"/>
                    </a:solidFill>
                  </a:tcPr>
                </a:tc>
              </a:tr>
              <a:tr h="655320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IP allowlisting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0" i="0">
                          <a:solidFill>
                            <a:srgbClr val="CCD1D9"/>
                          </a:solidFill>
                          <a:latin typeface="Calibri"/>
                        </a:rPr>
                        <a:t>Network sandbox (managed-settings.json) restricts Claude's outbound access. VPN enforced for Zone 3 work.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0" i="0">
                          <a:solidFill>
                            <a:srgbClr val="CCD1D9"/>
                          </a:solidFill>
                          <a:latin typeface="Calibri"/>
                        </a:rPr>
                        <a:t>C1.1 — Confidentiality.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74320" y="5715000"/>
            <a:ext cx="11640312" cy="502920"/>
          </a:xfrm>
          <a:prstGeom prst="rect">
            <a:avLst/>
          </a:prstGeom>
          <a:solidFill>
            <a:srgbClr val="0A2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5742432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2D6FF7"/>
                </a:solidFill>
                <a:latin typeface="Calibri"/>
              </a:rPr>
              <a:t>Good faith framing: </a:t>
            </a:r>
            <a:r>
              <a:rPr sz="1100" b="0" i="0">
                <a:solidFill>
                  <a:srgbClr val="CCD1D9"/>
                </a:solidFill>
                <a:latin typeface="Calibri"/>
              </a:rPr>
              <a:t>We have documented every gap, its compensating control, and its SOC2 mapping. Auditors evaluate proportionality + consistency — not perfection. This is sufficient.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64592"/>
            <a:ext cx="1577340" cy="256032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SOC2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SOC2 Compliance — Minimum vs Maximum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1640312" cy="22860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3444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606E"/>
                </a:solidFill>
                <a:latin typeface="Calibri"/>
              </a:rPr>
              <a:t>SOC2 auditors evaluate proportionality and consistency — not whether you have every possible control. Good faith + documentation = defensible.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81328"/>
            <a:ext cx="5669280" cy="329184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481328"/>
            <a:ext cx="5669280" cy="329184"/>
          </a:xfrm>
          <a:prstGeom prst="rect">
            <a:avLst/>
          </a:prstGeom>
          <a:noFill/>
        </p:spPr>
        <p:txBody>
          <a:bodyPr wrap="none" tIns="36576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MINIMUM — Good Faith (Where We Are)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865376"/>
            <a:ext cx="5669280" cy="4572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956816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1D9"/>
                </a:solidFill>
                <a:latin typeface="Calibri"/>
              </a:rPr>
              <a:t>AI Acceptable Use Policy — documented, signed by all employees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340864"/>
            <a:ext cx="5669280" cy="457200"/>
          </a:xfrm>
          <a:prstGeom prst="rect">
            <a:avLst/>
          </a:prstGeom>
          <a:solidFill>
            <a:srgbClr val="13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2432304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14016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1D9"/>
                </a:solidFill>
                <a:latin typeface="Calibri"/>
              </a:rPr>
              <a:t>Training records — completion timestamps in Highlander Learning Platform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816352"/>
            <a:ext cx="5669280" cy="4572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2907792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889504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1D9"/>
                </a:solidFill>
                <a:latin typeface="Calibri"/>
              </a:rPr>
              <a:t>GitHub audit logs — 180-day retention, org-level, owner-accessible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91840"/>
            <a:ext cx="5669280" cy="457200"/>
          </a:xfrm>
          <a:prstGeom prst="rect">
            <a:avLst/>
          </a:prstGeom>
          <a:solidFill>
            <a:srgbClr val="13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3383280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364992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1D9"/>
                </a:solidFill>
                <a:latin typeface="Calibri"/>
              </a:rPr>
              <a:t>Hook-based logging — every Claude tool-use timestamped locally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767328"/>
            <a:ext cx="5669280" cy="4572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3858768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840480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1D9"/>
                </a:solidFill>
                <a:latin typeface="Calibri"/>
              </a:rPr>
              <a:t>Signed AUP acknowledgments — per employee, dated, on file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242816"/>
            <a:ext cx="5669280" cy="457200"/>
          </a:xfrm>
          <a:prstGeom prst="rect">
            <a:avLst/>
          </a:prstGeom>
          <a:solidFill>
            <a:srgbClr val="13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" y="4334256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315968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1D9"/>
                </a:solidFill>
                <a:latin typeface="Calibri"/>
              </a:rPr>
              <a:t>Branch protection — human review required before any AI code merges (CC8.1)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718304"/>
            <a:ext cx="5669280" cy="4572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" y="4809744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791456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1D9"/>
                </a:solidFill>
                <a:latin typeface="Calibri"/>
              </a:rPr>
              <a:t>Driving Zones — documented RBAC for data access tiers (CC6.3)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193792"/>
            <a:ext cx="5669280" cy="457200"/>
          </a:xfrm>
          <a:prstGeom prst="rect">
            <a:avLst/>
          </a:prstGeom>
          <a:solidFill>
            <a:srgbClr val="13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" y="5285231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266944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1D9"/>
                </a:solidFill>
                <a:latin typeface="Calibri"/>
              </a:rPr>
              <a:t>SSO via IdP — centralised authentication logging (CC6.1)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669280"/>
            <a:ext cx="5669280" cy="4572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" y="5760720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742432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1D9"/>
                </a:solidFill>
                <a:latin typeface="Calibri"/>
              </a:rPr>
              <a:t>Sandbox — OS-level enforcement preventing data exfiltration (C1.1)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36207" y="1481328"/>
            <a:ext cx="5669280" cy="32918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36207" y="1481328"/>
            <a:ext cx="5669280" cy="329184"/>
          </a:xfrm>
          <a:prstGeom prst="rect">
            <a:avLst/>
          </a:prstGeom>
          <a:noFill/>
        </p:spPr>
        <p:txBody>
          <a:bodyPr wrap="none" tIns="36576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MAXIMUM — Full Detective Controls (Future State)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36207" y="1865376"/>
            <a:ext cx="5669280" cy="4572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59" y="1956816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01968" y="1938528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1D9"/>
                </a:solidFill>
                <a:latin typeface="Calibri"/>
              </a:rPr>
              <a:t>Claude Enterprise API — native audit logs, 180-day CSV export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36207" y="2340864"/>
            <a:ext cx="5669280" cy="457200"/>
          </a:xfrm>
          <a:prstGeom prst="rect">
            <a:avLst/>
          </a:prstGeom>
          <a:solidFill>
            <a:srgbClr val="13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59" y="2432304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01968" y="2414016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1D9"/>
                </a:solidFill>
                <a:latin typeface="Calibri"/>
              </a:rPr>
              <a:t>Compliance API → SIEM (Splunk / Datadog / Elastic) — real-time monitoring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36207" y="2816352"/>
            <a:ext cx="5669280" cy="4572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59" y="2907792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01968" y="2889504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1D9"/>
                </a:solidFill>
                <a:latin typeface="Calibri"/>
              </a:rPr>
              <a:t>SCIM provisioning — automated deprovisioning on HR termination event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36207" y="3291840"/>
            <a:ext cx="5669280" cy="457200"/>
          </a:xfrm>
          <a:prstGeom prst="rect">
            <a:avLst/>
          </a:prstGeom>
          <a:solidFill>
            <a:srgbClr val="13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59" y="3383280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01968" y="3364992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1D9"/>
                </a:solidFill>
                <a:latin typeface="Calibri"/>
              </a:rPr>
              <a:t>Hash-chained immutable audit logs — tamper-evident log integrity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36207" y="3767328"/>
            <a:ext cx="5669280" cy="4572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59" y="3858768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01968" y="3840480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1D9"/>
                </a:solidFill>
                <a:latin typeface="Calibri"/>
              </a:rPr>
              <a:t>Real-time anomaly alerting — unusual usage triggers security review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36207" y="4242816"/>
            <a:ext cx="5669280" cy="457200"/>
          </a:xfrm>
          <a:prstGeom prst="rect">
            <a:avLst/>
          </a:prstGeom>
          <a:solidFill>
            <a:srgbClr val="13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09359" y="4334256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01968" y="4315968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1D9"/>
                </a:solidFill>
                <a:latin typeface="Calibri"/>
              </a:rPr>
              <a:t>Zero Data Retention (ZDR) — Claude never persists conversation data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36207" y="4718304"/>
            <a:ext cx="5669280" cy="4572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09359" y="4809744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→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01968" y="4791456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1D9"/>
                </a:solidFill>
                <a:latin typeface="Calibri"/>
              </a:rPr>
              <a:t>Custom data retention policies — ISO 27001 A.8.10 fully addressed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36207" y="5193792"/>
            <a:ext cx="5669280" cy="457200"/>
          </a:xfrm>
          <a:prstGeom prst="rect">
            <a:avLst/>
          </a:prstGeom>
          <a:solidFill>
            <a:srgbClr val="13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09359" y="5285231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→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01968" y="5266944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1D9"/>
                </a:solidFill>
                <a:latin typeface="Calibri"/>
              </a:rPr>
              <a:t>IP allowlisting — restricts Claude access to known corporate networks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36207" y="5669280"/>
            <a:ext cx="5669280" cy="4572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09359" y="5760720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  <a:latin typeface="Calibri"/>
              </a:rPr>
              <a:t>→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01968" y="5742432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1D9"/>
                </a:solidFill>
                <a:latin typeface="Calibri"/>
              </a:rPr>
              <a:t>HIPAA-ready configuration — required only if health data in scope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64592"/>
            <a:ext cx="1577340" cy="256032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SOC2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Our SOC2 Control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1640312" cy="22860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640312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4206240"/>
                <a:gridCol w="5696712"/>
              </a:tblGrid>
              <a:tr h="679268">
                <a:tc>
                  <a:txBody>
                    <a:bodyPr wrap="square" lIns="54864" rIns="54864" tIns="36576" bIns="36576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SOC2 Criteria</a:t>
                      </a:r>
                    </a:p>
                  </a:txBody>
                  <a:tcPr>
                    <a:solidFill>
                      <a:srgbClr val="1A48BB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Control Required</a:t>
                      </a:r>
                    </a:p>
                  </a:txBody>
                  <a:tcPr>
                    <a:solidFill>
                      <a:srgbClr val="1A48BB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How We Address It (Teams Plan)</a:t>
                      </a:r>
                    </a:p>
                  </a:txBody>
                  <a:tcPr>
                    <a:solidFill>
                      <a:srgbClr val="1A48BB"/>
                    </a:solidFill>
                  </a:tcPr>
                </a:tc>
              </a:tr>
              <a:tr h="679268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1" i="0">
                          <a:solidFill>
                            <a:srgbClr val="2D6FF7"/>
                          </a:solidFill>
                          <a:latin typeface="Calibri"/>
                        </a:rPr>
                        <a:t>CC6.1
Logical Access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0" i="0">
                          <a:solidFill>
                            <a:srgbClr val="CCD1D9"/>
                          </a:solidFill>
                          <a:latin typeface="Calibri"/>
                        </a:rPr>
                        <a:t>Document who can use Claude, approval process, monitoring.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0" i="0">
                          <a:solidFill>
                            <a:srgbClr val="CCD1D9"/>
                          </a:solidFill>
                          <a:latin typeface="Calibri"/>
                        </a:rPr>
                        <a:t>SSO (Azure AD / Okta) + JIT provisioning. Certification gate before seat issued. Manual offboarding checklist.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679268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1" i="0">
                          <a:solidFill>
                            <a:srgbClr val="2D6FF7"/>
                          </a:solidFill>
                          <a:latin typeface="Calibri"/>
                        </a:rPr>
                        <a:t>CC6.3
Role-Based Access</a:t>
                      </a:r>
                    </a:p>
                  </a:txBody>
                  <a:tcPr>
                    <a:solidFill>
                      <a:srgbClr val="131620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0" i="0">
                          <a:solidFill>
                            <a:srgbClr val="CCD1D9"/>
                          </a:solidFill>
                          <a:latin typeface="Calibri"/>
                        </a:rPr>
                        <a:t>RBAC for AI tool access. Least-privilege for code repos.</a:t>
                      </a:r>
                    </a:p>
                  </a:txBody>
                  <a:tcPr>
                    <a:solidFill>
                      <a:srgbClr val="131620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0" i="0">
                          <a:solidFill>
                            <a:srgbClr val="CCD1D9"/>
                          </a:solidFill>
                          <a:latin typeface="Calibri"/>
                        </a:rPr>
                        <a:t>Driving Zones = tiered data access model. Zone 3 requires manager approval. managed-mcp.json = deny-by-default.</a:t>
                      </a:r>
                    </a:p>
                  </a:txBody>
                  <a:tcPr>
                    <a:solidFill>
                      <a:srgbClr val="131620"/>
                    </a:solidFill>
                  </a:tcPr>
                </a:tc>
              </a:tr>
              <a:tr h="679268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1" i="0">
                          <a:solidFill>
                            <a:srgbClr val="2D6FF7"/>
                          </a:solidFill>
                          <a:latin typeface="Calibri"/>
                        </a:rPr>
                        <a:t>CC7.2
System Monitoring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0" i="0">
                          <a:solidFill>
                            <a:srgbClr val="CCD1D9"/>
                          </a:solidFill>
                          <a:latin typeface="Calibri"/>
                        </a:rPr>
                        <a:t>Audit logs of all AI tool usage. SIEM integration.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0" i="0">
                          <a:solidFill>
                            <a:srgbClr val="CCD1D9"/>
                          </a:solidFill>
                          <a:latin typeface="Calibri"/>
                        </a:rPr>
                        <a:t>GitHub audit log (180-day) + hook-based PostToolUse logging. Highlander commit metrics. Usage analytics CSV.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679268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1" i="0">
                          <a:solidFill>
                            <a:srgbClr val="2D6FF7"/>
                          </a:solidFill>
                          <a:latin typeface="Calibri"/>
                        </a:rPr>
                        <a:t>CC8.1
Change Management</a:t>
                      </a:r>
                    </a:p>
                  </a:txBody>
                  <a:tcPr>
                    <a:solidFill>
                      <a:srgbClr val="131620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0" i="0">
                          <a:solidFill>
                            <a:srgbClr val="CCD1D9"/>
                          </a:solidFill>
                          <a:latin typeface="Calibri"/>
                        </a:rPr>
                        <a:t>Code review for AI-generated code. Human validation.</a:t>
                      </a:r>
                    </a:p>
                  </a:txBody>
                  <a:tcPr>
                    <a:solidFill>
                      <a:srgbClr val="131620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0" i="0">
                          <a:solidFill>
                            <a:srgbClr val="CCD1D9"/>
                          </a:solidFill>
                          <a:latin typeface="Calibri"/>
                        </a:rPr>
                        <a:t>Branch protection on all citizen repos. PR required before merge. Zone 2 minimum process enforces this.</a:t>
                      </a:r>
                    </a:p>
                  </a:txBody>
                  <a:tcPr>
                    <a:solidFill>
                      <a:srgbClr val="131620"/>
                    </a:solidFill>
                  </a:tcPr>
                </a:tc>
              </a:tr>
              <a:tr h="679268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1" i="0">
                          <a:solidFill>
                            <a:srgbClr val="2D6FF7"/>
                          </a:solidFill>
                          <a:latin typeface="Calibri"/>
                        </a:rPr>
                        <a:t>PI1.4
Processing Integrity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0" i="0">
                          <a:solidFill>
                            <a:srgbClr val="CCD1D9"/>
                          </a:solidFill>
                          <a:latin typeface="Calibri"/>
                        </a:rPr>
                        <a:t>Demonstrate AI outputs reviewed for accuracy.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0" i="0">
                          <a:solidFill>
                            <a:srgbClr val="CCD1D9"/>
                          </a:solidFill>
                          <a:latin typeface="Calibri"/>
                        </a:rPr>
                        <a:t>Human review gate at Zone 2+. Zone 3 requires manager sign-off. No autonomous production deploys without review.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679272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1" i="0">
                          <a:solidFill>
                            <a:srgbClr val="2D6FF7"/>
                          </a:solidFill>
                          <a:latin typeface="Calibri"/>
                        </a:rPr>
                        <a:t>C1.1
Confidentiality</a:t>
                      </a:r>
                    </a:p>
                  </a:txBody>
                  <a:tcPr>
                    <a:solidFill>
                      <a:srgbClr val="131620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0" i="0">
                          <a:solidFill>
                            <a:srgbClr val="CCD1D9"/>
                          </a:solidFill>
                          <a:latin typeface="Calibri"/>
                        </a:rPr>
                        <a:t>Classify data before sending to AI. Encryption. DLP.</a:t>
                      </a:r>
                    </a:p>
                  </a:txBody>
                  <a:tcPr>
                    <a:solidFill>
                      <a:srgbClr val="131620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0" i="0">
                          <a:solidFill>
                            <a:srgbClr val="CCD1D9"/>
                          </a:solidFill>
                          <a:latin typeface="Calibri"/>
                        </a:rPr>
                        <a:t>Sandbox network isolation (approved domains only). MCP allowlist. AUP data classification rules. No Zone 3 without Jira ticket.</a:t>
                      </a:r>
                    </a:p>
                  </a:txBody>
                  <a:tcPr>
                    <a:solidFill>
                      <a:srgbClr val="13162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6291072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06E"/>
                </a:solidFill>
                <a:latin typeface="Calibri"/>
              </a:rPr>
              <a:t>Note: ISO 27001 A.5.10, A.8.15, A.8.16 are addressed by the same controls above. The mapping is documented in the compliance workbook.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64592"/>
            <a:ext cx="2098548" cy="256032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WORKFLOW WALKTHROUGHS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Project Lifecycle — The Two Paths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1640312" cy="22860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98448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6FF7"/>
                </a:solidFill>
                <a:latin typeface="Calibri"/>
              </a:rPr>
              <a:t>ZONE 2 PATH — Internal, non-confidential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00200"/>
            <a:ext cx="1325880" cy="658368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600200"/>
            <a:ext cx="1325880" cy="658368"/>
          </a:xfrm>
          <a:prstGeom prst="rect">
            <a:avLst/>
          </a:prstGeom>
          <a:noFill/>
        </p:spPr>
        <p:txBody>
          <a:bodyPr wrap="none" tIns="10972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9344" y="1801368"/>
            <a:ext cx="9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FF7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1691640" y="1600200"/>
            <a:ext cx="1325880" cy="658368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91640" y="1600200"/>
            <a:ext cx="1325880" cy="658368"/>
          </a:xfrm>
          <a:prstGeom prst="rect">
            <a:avLst/>
          </a:prstGeom>
          <a:noFill/>
        </p:spPr>
        <p:txBody>
          <a:bodyPr wrap="none" tIns="10972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GitHub
branch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26663" y="1801368"/>
            <a:ext cx="9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FF7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1600200"/>
            <a:ext cx="1325880" cy="658368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1600200"/>
            <a:ext cx="1325880" cy="658368"/>
          </a:xfrm>
          <a:prstGeom prst="rect">
            <a:avLst/>
          </a:prstGeom>
          <a:noFill/>
        </p:spPr>
        <p:txBody>
          <a:bodyPr wrap="none" tIns="10972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Claude
builds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983" y="1801368"/>
            <a:ext cx="9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FF7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26280" y="1600200"/>
            <a:ext cx="1325880" cy="658368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600200"/>
            <a:ext cx="1325880" cy="658368"/>
          </a:xfrm>
          <a:prstGeom prst="rect">
            <a:avLst/>
          </a:prstGeom>
          <a:noFill/>
        </p:spPr>
        <p:txBody>
          <a:bodyPr wrap="none" tIns="10972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Review
&amp; iterate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61304" y="1801368"/>
            <a:ext cx="9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FF7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1600200"/>
            <a:ext cx="1325880" cy="658368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1600200"/>
            <a:ext cx="1325880" cy="658368"/>
          </a:xfrm>
          <a:prstGeom prst="rect">
            <a:avLst/>
          </a:prstGeom>
          <a:noFill/>
        </p:spPr>
        <p:txBody>
          <a:bodyPr wrap="none" tIns="10972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 +
code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78624" y="1801368"/>
            <a:ext cx="9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FF7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60920" y="1600200"/>
            <a:ext cx="1325880" cy="658368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0920" y="1600200"/>
            <a:ext cx="1325880" cy="658368"/>
          </a:xfrm>
          <a:prstGeom prst="rect">
            <a:avLst/>
          </a:prstGeom>
          <a:noFill/>
        </p:spPr>
        <p:txBody>
          <a:bodyPr wrap="none" tIns="10972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Merge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95944" y="1801368"/>
            <a:ext cx="9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FF7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78240" y="1600200"/>
            <a:ext cx="1325880" cy="658368"/>
          </a:xfrm>
          <a:prstGeom prst="rect">
            <a:avLst/>
          </a:prstGeom>
          <a:solidFill>
            <a:srgbClr val="1A4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0" y="1600200"/>
            <a:ext cx="1325880" cy="658368"/>
          </a:xfrm>
          <a:prstGeom prst="rect">
            <a:avLst/>
          </a:prstGeom>
          <a:noFill/>
        </p:spPr>
        <p:txBody>
          <a:bodyPr wrap="none" tIns="10972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Highlander
ingests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13264" y="1801368"/>
            <a:ext cx="9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6FF7"/>
                </a:solidFill>
                <a:latin typeface="Calibr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95560" y="1600200"/>
            <a:ext cx="1325880" cy="658368"/>
          </a:xfrm>
          <a:prstGeom prst="rect">
            <a:avLst/>
          </a:prstGeom>
          <a:solidFill>
            <a:srgbClr val="1A4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95560" y="1600200"/>
            <a:ext cx="1325880" cy="658368"/>
          </a:xfrm>
          <a:prstGeom prst="rect">
            <a:avLst/>
          </a:prstGeom>
          <a:noFill/>
        </p:spPr>
        <p:txBody>
          <a:bodyPr wrap="none" tIns="10972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OKR
attributed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2359152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06E"/>
                </a:solidFill>
                <a:latin typeface="Calibri"/>
              </a:rPr>
              <a:t>No Jira ticket required. GitHub branch + code review is sufficient. Claude Desktop or Claude Code both work.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3017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Calibri"/>
              </a:rPr>
              <a:t>ZONE 3 PATH — Confidential / PII / client data / any MCP server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310128"/>
            <a:ext cx="1325880" cy="658368"/>
          </a:xfrm>
          <a:prstGeom prst="rect">
            <a:avLst/>
          </a:prstGeom>
          <a:solidFill>
            <a:srgbClr val="5A3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3310128"/>
            <a:ext cx="1325880" cy="658368"/>
          </a:xfrm>
          <a:prstGeom prst="rect">
            <a:avLst/>
          </a:prstGeom>
          <a:noFill/>
        </p:spPr>
        <p:txBody>
          <a:bodyPr wrap="none" tIns="109728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  <a:latin typeface="Calibri"/>
              </a:rPr>
              <a:t>Jira
ticket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9344" y="3511296"/>
            <a:ext cx="9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  <a:latin typeface="Calibri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91640" y="3310128"/>
            <a:ext cx="1325880" cy="658368"/>
          </a:xfrm>
          <a:prstGeom prst="rect">
            <a:avLst/>
          </a:prstGeom>
          <a:solidFill>
            <a:srgbClr val="5A3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91640" y="3310128"/>
            <a:ext cx="1325880" cy="658368"/>
          </a:xfrm>
          <a:prstGeom prst="rect">
            <a:avLst/>
          </a:prstGeom>
          <a:noFill/>
        </p:spPr>
        <p:txBody>
          <a:bodyPr wrap="none" tIns="109728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  <a:latin typeface="Calibri"/>
              </a:rPr>
              <a:t>Manager
approval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26663" y="3511296"/>
            <a:ext cx="9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  <a:latin typeface="Calibri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08960" y="3310128"/>
            <a:ext cx="1325880" cy="658368"/>
          </a:xfrm>
          <a:prstGeom prst="rect">
            <a:avLst/>
          </a:prstGeom>
          <a:solidFill>
            <a:srgbClr val="5A3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08960" y="3310128"/>
            <a:ext cx="1325880" cy="658368"/>
          </a:xfrm>
          <a:prstGeom prst="rect">
            <a:avLst/>
          </a:prstGeom>
          <a:noFill/>
        </p:spPr>
        <p:txBody>
          <a:bodyPr wrap="none" tIns="109728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  <a:latin typeface="Calibri"/>
              </a:rPr>
              <a:t>Approved
MCP only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43983" y="3511296"/>
            <a:ext cx="9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  <a:latin typeface="Calibri"/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26280" y="3310128"/>
            <a:ext cx="1325880" cy="658368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26280" y="3310128"/>
            <a:ext cx="1325880" cy="658368"/>
          </a:xfrm>
          <a:prstGeom prst="rect">
            <a:avLst/>
          </a:prstGeom>
          <a:noFill/>
        </p:spPr>
        <p:txBody>
          <a:bodyPr wrap="none" tIns="10972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Claude
builds 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61304" y="3511296"/>
            <a:ext cx="9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  <a:latin typeface="Calibri"/>
              </a:rP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0" y="3310128"/>
            <a:ext cx="1325880" cy="658368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0" y="3310128"/>
            <a:ext cx="1325880" cy="658368"/>
          </a:xfrm>
          <a:prstGeom prst="rect">
            <a:avLst/>
          </a:prstGeom>
          <a:noFill/>
        </p:spPr>
        <p:txBody>
          <a:bodyPr wrap="none" tIns="10972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Zone 3
audit log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78624" y="3511296"/>
            <a:ext cx="9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  <a:latin typeface="Calibri"/>
              </a:rPr>
              <a:t>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60920" y="3310128"/>
            <a:ext cx="1325880" cy="658368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60920" y="3310128"/>
            <a:ext cx="1325880" cy="658368"/>
          </a:xfrm>
          <a:prstGeom prst="rect">
            <a:avLst/>
          </a:prstGeom>
          <a:noFill/>
        </p:spPr>
        <p:txBody>
          <a:bodyPr wrap="none" tIns="10972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 +
manager review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95944" y="3511296"/>
            <a:ext cx="9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  <a:latin typeface="Calibri"/>
              </a:rPr>
              <a:t>→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778240" y="3310128"/>
            <a:ext cx="1325880" cy="658368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78240" y="3310128"/>
            <a:ext cx="1325880" cy="658368"/>
          </a:xfrm>
          <a:prstGeom prst="rect">
            <a:avLst/>
          </a:prstGeom>
          <a:noFill/>
        </p:spPr>
        <p:txBody>
          <a:bodyPr wrap="none" tIns="10972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Merge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13264" y="3511296"/>
            <a:ext cx="9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  <a:latin typeface="Calibri"/>
              </a:rPr>
              <a:t>→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195560" y="3310128"/>
            <a:ext cx="1325880" cy="658368"/>
          </a:xfrm>
          <a:prstGeom prst="rect">
            <a:avLst/>
          </a:prstGeom>
          <a:solidFill>
            <a:srgbClr val="1A4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195560" y="3310128"/>
            <a:ext cx="1325880" cy="658368"/>
          </a:xfrm>
          <a:prstGeom prst="rect">
            <a:avLst/>
          </a:prstGeom>
          <a:noFill/>
        </p:spPr>
        <p:txBody>
          <a:bodyPr wrap="none" tIns="10972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Highlander
ingests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" y="4059936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606E"/>
                </a:solidFill>
                <a:latin typeface="Calibri"/>
              </a:rPr>
              <a:t>Zone 3 is triggered automatically by any MCP server connecting to a live system — regardless of what data the citizen thinks they're working with.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4617720"/>
            <a:ext cx="11640312" cy="100584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1480" y="4663440"/>
            <a:ext cx="113659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2D6FF7"/>
                </a:solidFill>
                <a:latin typeface="Calibri"/>
              </a:rPr>
              <a:t>Every citizen repo includes METADATA.yaml: </a:t>
            </a:r>
            <a:r>
              <a:rPr sz="1100" b="0" i="0">
                <a:solidFill>
                  <a:srgbClr val="CCD1D9"/>
                </a:solidFill>
                <a:latin typeface="Calibri"/>
              </a:rPr>
              <a:t>owner, team, OKR reference, business problem, and zone. This is what links a GitHub commit to an OKR in Highlander — no manual reporting.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000" b="0" i="1">
                <a:solidFill>
                  <a:srgbClr val="55606E"/>
                </a:solidFill>
                <a:latin typeface="Calibri"/>
              </a:rPr>
              <a:t>Repo naming: citizen-&lt;team&gt;-&lt;project&gt;   |   GitHub topic tag: citizen-ai   |   Company email required for identity mapping in Highlander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64592"/>
            <a:ext cx="2098548" cy="256032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WORKFLOW WALKTHROUGHS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Citizen Workflow: Claude Desktop (No Terminal Required)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1640312" cy="22860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3444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606E"/>
                </a:solidFill>
                <a:latin typeface="Calibri"/>
              </a:rPr>
              <a:t>Recommended path for non-technical citizens. GUI-driven, visual, conversational. No Git or terminal knowledge needed.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72768"/>
            <a:ext cx="11640312" cy="713232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572768"/>
            <a:ext cx="384048" cy="713232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737360"/>
            <a:ext cx="2926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642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Open Claude Desktop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79" y="1664208"/>
            <a:ext cx="8915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1D9"/>
                </a:solidFill>
                <a:latin typeface="Calibri"/>
              </a:rPr>
              <a:t>Download the app, sign in with company SSO, select your project folder (e.g., ~/citizen-ops-deal-tracker).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331720"/>
            <a:ext cx="11640312" cy="713232"/>
          </a:xfrm>
          <a:prstGeom prst="rect">
            <a:avLst/>
          </a:prstGeom>
          <a:solidFill>
            <a:srgbClr val="13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331720"/>
            <a:ext cx="384048" cy="713232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496312"/>
            <a:ext cx="2926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423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Describe your task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79" y="2423160"/>
            <a:ext cx="8915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1D9"/>
                </a:solidFill>
                <a:latin typeface="Calibri"/>
              </a:rPr>
              <a:t>Type in plain English: "Build a weekly ARR report from our Google Sheet — pull data, calculate YTD, email to sales@helmmarkets.com."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090672"/>
            <a:ext cx="11640312" cy="713232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090672"/>
            <a:ext cx="384048" cy="713232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3255264"/>
            <a:ext cx="2926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1821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Claude builds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79" y="3182112"/>
            <a:ext cx="8915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1D9"/>
                </a:solidFill>
                <a:latin typeface="Calibri"/>
              </a:rPr>
              <a:t>Claude reads your folder, writes the code, and shows visual diffs — exactly what changed, highlighted in color. You see every line before it's saved.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849624"/>
            <a:ext cx="11640312" cy="713232"/>
          </a:xfrm>
          <a:prstGeom prst="rect">
            <a:avLst/>
          </a:prstGeom>
          <a:solidFill>
            <a:srgbClr val="13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849624"/>
            <a:ext cx="384048" cy="713232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4014215"/>
            <a:ext cx="2926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941063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Review &amp; iterate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79" y="3941063"/>
            <a:ext cx="8915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1D9"/>
                </a:solidFill>
                <a:latin typeface="Calibri"/>
              </a:rPr>
              <a:t>Approve each change or say "make this metric red if it drops more than 10%." Completely conversational. No coding required.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608576"/>
            <a:ext cx="11640312" cy="713232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4608576"/>
            <a:ext cx="384048" cy="713232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4773168"/>
            <a:ext cx="2926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70001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Commit to GitHub branch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54679" y="4700016"/>
            <a:ext cx="8915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1D9"/>
                </a:solidFill>
                <a:latin typeface="Calibri"/>
              </a:rPr>
              <a:t>Click the GitHub button or ask Claude: "Commit this to a new branch called citizen-ops-arr-report." Branch created, code pushed.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367528"/>
            <a:ext cx="11640312" cy="713232"/>
          </a:xfrm>
          <a:prstGeom prst="rect">
            <a:avLst/>
          </a:prstGeom>
          <a:solidFill>
            <a:srgbClr val="13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5367528"/>
            <a:ext cx="384048" cy="713232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5532120"/>
            <a:ext cx="2926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4589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 → Review → Merge → Tracked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54679" y="5458968"/>
            <a:ext cx="8915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1D9"/>
                </a:solidFill>
                <a:latin typeface="Calibri"/>
              </a:rPr>
              <a:t>PR opens automatically. Teammate reviews. On merge, Highlander ingests the commit. OKR attributed via METADATA.yaml.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64592"/>
            <a:ext cx="2098548" cy="256032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WORKFLOW WALKTHROUGHS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Citizen Workflow: Claude Code in Terminal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1640312" cy="22860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3444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606E"/>
                </a:solidFill>
                <a:latin typeface="Calibri"/>
              </a:rPr>
              <a:t>For citizens with some technical comfort. Full Git automation. Stronger compliance posture via managed-settings.json.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72768"/>
            <a:ext cx="11640312" cy="713232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572768"/>
            <a:ext cx="384048" cy="713232"/>
          </a:xfrm>
          <a:prstGeom prst="rect">
            <a:avLst/>
          </a:prstGeom>
          <a:solidFill>
            <a:srgbClr val="1A4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737360"/>
            <a:ext cx="2926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642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Open terminal &amp; navigate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664208"/>
            <a:ext cx="8641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1D9"/>
                </a:solidFill>
                <a:latin typeface="Calibri"/>
              </a:rPr>
              <a:t>cd ~/citizen-finance-arr-report   then run:   claude   (the CLI launches automatically)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331720"/>
            <a:ext cx="11640312" cy="713232"/>
          </a:xfrm>
          <a:prstGeom prst="rect">
            <a:avLst/>
          </a:prstGeom>
          <a:solidFill>
            <a:srgbClr val="13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331720"/>
            <a:ext cx="384048" cy="713232"/>
          </a:xfrm>
          <a:prstGeom prst="rect">
            <a:avLst/>
          </a:prstGeom>
          <a:solidFill>
            <a:srgbClr val="1A4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496312"/>
            <a:ext cx="2926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423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Describe your task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423160"/>
            <a:ext cx="8641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1D9"/>
                </a:solidFill>
                <a:latin typeface="Calibri"/>
              </a:rPr>
              <a:t>Type in natural language — same as Desktop. Claude reads your entire codebase context before responding.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090672"/>
            <a:ext cx="11640312" cy="713232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090672"/>
            <a:ext cx="384048" cy="713232"/>
          </a:xfrm>
          <a:prstGeom prst="rect">
            <a:avLst/>
          </a:prstGeom>
          <a:solidFill>
            <a:srgbClr val="1A4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3255264"/>
            <a:ext cx="2926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1821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Claude proposes changes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3182112"/>
            <a:ext cx="8641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1D9"/>
                </a:solidFill>
                <a:latin typeface="Calibri"/>
              </a:rPr>
              <a:t>Claude shows diffs in the terminal. Every file change is explicit. You approve or reject each one with a keystroke.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849624"/>
            <a:ext cx="11640312" cy="713232"/>
          </a:xfrm>
          <a:prstGeom prst="rect">
            <a:avLst/>
          </a:prstGeom>
          <a:solidFill>
            <a:srgbClr val="13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849624"/>
            <a:ext cx="384048" cy="713232"/>
          </a:xfrm>
          <a:prstGeom prst="rect">
            <a:avLst/>
          </a:prstGeom>
          <a:solidFill>
            <a:srgbClr val="1A4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4014215"/>
            <a:ext cx="2926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941063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Review diffs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3941063"/>
            <a:ext cx="8641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1D9"/>
                </a:solidFill>
                <a:latin typeface="Calibri"/>
              </a:rPr>
              <a:t>Approve changes interactively. Claude never modifies files you haven't approved. The sandbox prevents writes outside your project folder.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4608576"/>
            <a:ext cx="11640312" cy="713232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4608576"/>
            <a:ext cx="384048" cy="713232"/>
          </a:xfrm>
          <a:prstGeom prst="rect">
            <a:avLst/>
          </a:prstGeom>
          <a:solidFill>
            <a:srgbClr val="1A4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4773168"/>
            <a:ext cx="2926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70001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Claude handles Git automatically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54680" y="4700016"/>
            <a:ext cx="8641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1D9"/>
                </a:solidFill>
                <a:latin typeface="Calibri"/>
              </a:rPr>
              <a:t>On approval: Claude creates a branch (citizen-finance-arr-report), commits with a descriptive message, and opens a PR — no GitHub UI needed.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367527"/>
            <a:ext cx="11640312" cy="713232"/>
          </a:xfrm>
          <a:prstGeom prst="rect">
            <a:avLst/>
          </a:prstGeom>
          <a:solidFill>
            <a:srgbClr val="13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5367527"/>
            <a:ext cx="384048" cy="713232"/>
          </a:xfrm>
          <a:prstGeom prst="rect">
            <a:avLst/>
          </a:prstGeom>
          <a:solidFill>
            <a:srgbClr val="1A4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5532119"/>
            <a:ext cx="29260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458967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 → Review → Merge → Tracked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54680" y="5458967"/>
            <a:ext cx="8641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1D9"/>
                </a:solidFill>
                <a:latin typeface="Calibri"/>
              </a:rPr>
              <a:t>Same as Desktop: PR reviewed by teammate, merged, Highlander ingests, OKR attributed via METADATA.yaml.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6199632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5606E"/>
                </a:solidFill>
                <a:latin typeface="Calibri"/>
              </a:rPr>
              <a:t>Requires terminal comfort. Recommend only for citizens who've completed Module 16 (GitHub) and are comfortable navigating file paths. Not required — Desktop is fully sufficient for most citizen work.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64592"/>
            <a:ext cx="2185415" cy="256032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HIGHLANDER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Highlander — How We Prove Business 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1640312" cy="22860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19455" y="1444752"/>
            <a:ext cx="1691640" cy="731520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5" y="1444752"/>
            <a:ext cx="1691640" cy="731520"/>
          </a:xfrm>
          <a:prstGeom prst="rect">
            <a:avLst/>
          </a:prstGeom>
          <a:noFill/>
        </p:spPr>
        <p:txBody>
          <a:bodyPr wrap="none" tIns="128016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Citizen
Commits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47671" y="1664208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6FF7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231135" y="1444752"/>
            <a:ext cx="1691640" cy="731520"/>
          </a:xfrm>
          <a:prstGeom prst="rect">
            <a:avLst/>
          </a:prstGeom>
          <a:solidFill>
            <a:srgbClr val="1A4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31135" y="1444752"/>
            <a:ext cx="1691640" cy="731520"/>
          </a:xfrm>
          <a:prstGeom prst="rect">
            <a:avLst/>
          </a:prstGeom>
          <a:noFill/>
        </p:spPr>
        <p:txBody>
          <a:bodyPr wrap="none" tIns="128016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GitHub
Webhook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59351" y="1664208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6FF7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42816" y="1444752"/>
            <a:ext cx="1691640" cy="731520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42816" y="1444752"/>
            <a:ext cx="1691640" cy="731520"/>
          </a:xfrm>
          <a:prstGeom prst="rect">
            <a:avLst/>
          </a:prstGeom>
          <a:noFill/>
        </p:spPr>
        <p:txBody>
          <a:bodyPr wrap="none" tIns="128016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Highlander
ODL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71032" y="1664208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6FF7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54496" y="1444752"/>
            <a:ext cx="1691640" cy="731520"/>
          </a:xfrm>
          <a:prstGeom prst="rect">
            <a:avLst/>
          </a:prstGeom>
          <a:solidFill>
            <a:srgbClr val="1A4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4496" y="1444752"/>
            <a:ext cx="1691640" cy="731520"/>
          </a:xfrm>
          <a:prstGeom prst="rect">
            <a:avLst/>
          </a:prstGeom>
          <a:noFill/>
        </p:spPr>
        <p:txBody>
          <a:bodyPr wrap="none" tIns="128016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Analyzers
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2711" y="1664208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6FF7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66175" y="1444752"/>
            <a:ext cx="1691640" cy="731520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5" y="1444752"/>
            <a:ext cx="1691640" cy="731520"/>
          </a:xfrm>
          <a:prstGeom prst="rect">
            <a:avLst/>
          </a:prstGeom>
          <a:noFill/>
        </p:spPr>
        <p:txBody>
          <a:bodyPr wrap="none" tIns="128016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Metrics
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94391" y="1664208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D6FF7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77855" y="1444752"/>
            <a:ext cx="1691640" cy="731520"/>
          </a:xfrm>
          <a:prstGeom prst="rect">
            <a:avLst/>
          </a:prstGeom>
          <a:solidFill>
            <a:srgbClr val="1A4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77855" y="1444752"/>
            <a:ext cx="1691640" cy="731520"/>
          </a:xfrm>
          <a:prstGeom prst="rect">
            <a:avLst/>
          </a:prstGeom>
          <a:noFill/>
        </p:spPr>
        <p:txBody>
          <a:bodyPr wrap="none" tIns="128016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OKR
Proof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237744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What Highlander tracks from citizen activity: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724912"/>
            <a:ext cx="1828800" cy="13716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2724912"/>
            <a:ext cx="1828800" cy="54864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2798064"/>
            <a:ext cx="16824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6FF7"/>
                </a:solidFill>
                <a:latin typeface="Calibri"/>
              </a:rPr>
              <a:t>Commit velocity
per citizen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" y="3127248"/>
            <a:ext cx="16824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1D9"/>
                </a:solidFill>
                <a:latin typeface="Calibri"/>
              </a:rPr>
              <a:t>Who is active vs. inactive. Adoption rate over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12848" y="2724912"/>
            <a:ext cx="1828800" cy="13716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12848" y="2724912"/>
            <a:ext cx="1828800" cy="54864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0" y="2798064"/>
            <a:ext cx="16824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6FF7"/>
                </a:solidFill>
                <a:latin typeface="Calibri"/>
              </a:rPr>
              <a:t>AI co-authorship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3127248"/>
            <a:ext cx="16824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1D9"/>
                </a:solidFill>
                <a:latin typeface="Calibri"/>
              </a:rPr>
              <a:t>Force multiplier — % of commits where Claude was the author.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51376" y="2724912"/>
            <a:ext cx="1828800" cy="13716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51376" y="2724912"/>
            <a:ext cx="1828800" cy="54864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24528" y="2798064"/>
            <a:ext cx="16824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6FF7"/>
                </a:solidFill>
                <a:latin typeface="Calibri"/>
              </a:rPr>
              <a:t>Gap ratio reduction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24528" y="3127248"/>
            <a:ext cx="16824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1D9"/>
                </a:solidFill>
                <a:latin typeface="Calibri"/>
              </a:rPr>
              <a:t>Are citizen tools reducing operational bottlenecks?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9904" y="2724912"/>
            <a:ext cx="1828800" cy="13716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89904" y="2724912"/>
            <a:ext cx="1828800" cy="54864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63056" y="2798064"/>
            <a:ext cx="16824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6FF7"/>
                </a:solidFill>
                <a:latin typeface="Calibri"/>
              </a:rPr>
              <a:t>Constraint reduction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63056" y="3127248"/>
            <a:ext cx="16824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1D9"/>
                </a:solidFill>
                <a:latin typeface="Calibri"/>
              </a:rPr>
              <a:t>Is support case volume falling where citizens have built tools?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28432" y="2724912"/>
            <a:ext cx="1828800" cy="13716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28432" y="2724912"/>
            <a:ext cx="1828800" cy="54864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2798064"/>
            <a:ext cx="16824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6FF7"/>
                </a:solidFill>
                <a:latin typeface="Calibri"/>
              </a:rPr>
              <a:t>OKR attribution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01584" y="3127248"/>
            <a:ext cx="16824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1D9"/>
                </a:solidFill>
                <a:latin typeface="Calibri"/>
              </a:rPr>
              <a:t>METADATA.yaml links every commit to a specific OKR.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966960" y="2724912"/>
            <a:ext cx="1828800" cy="137160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966960" y="2724912"/>
            <a:ext cx="1828800" cy="54864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40112" y="2798064"/>
            <a:ext cx="16824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6FF7"/>
                </a:solidFill>
                <a:latin typeface="Calibri"/>
              </a:rPr>
              <a:t>Cert completion
funnel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40112" y="3127248"/>
            <a:ext cx="16824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1D9"/>
                </a:solidFill>
                <a:latin typeface="Calibri"/>
              </a:rPr>
              <a:t>Enrolled → Certified → First commit → Active → Driving value.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4251960"/>
            <a:ext cx="11640312" cy="713232"/>
          </a:xfrm>
          <a:prstGeom prst="rect">
            <a:avLst/>
          </a:prstGeom>
          <a:solidFill>
            <a:srgbClr val="0A2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4297680"/>
            <a:ext cx="113659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D6FF7"/>
                </a:solidFill>
                <a:latin typeface="Calibri"/>
              </a:rPr>
              <a:t>One-time setup: ~8 hours.  </a:t>
            </a:r>
            <a:r>
              <a:rPr sz="1100" b="0" i="0">
                <a:solidFill>
                  <a:srgbClr val="CCD1D9"/>
                </a:solidFill>
                <a:latin typeface="Calibri"/>
              </a:rPr>
              <a:t>Register repos in admin.github_repositories → map identities in engineer_email_mapping → add 'citizen' filter to engineer_effectiveness analyzer → deploy repo template.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5074920"/>
            <a:ext cx="11640312" cy="713232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5120640"/>
            <a:ext cx="113659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F5A623"/>
                </a:solidFill>
                <a:latin typeface="Calibri"/>
              </a:rPr>
              <a:t>Board narrative: </a:t>
            </a:r>
            <a:r>
              <a:rPr sz="1100" b="0" i="0">
                <a:solidFill>
                  <a:srgbClr val="CCD1D9"/>
                </a:solidFill>
                <a:latin typeface="Calibri"/>
              </a:rPr>
              <a:t>"X citizen developers shipped Y tools → closed Z operational bottlenecks → reduced support case volume by N% against OKR [X]." Highlander generates this automatically.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64592"/>
            <a:ext cx="2185415" cy="256032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COURSE &amp; CERTIFICATION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Certification — The Driver's License Gate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1640312" cy="22860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3444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606E"/>
                </a:solidFill>
                <a:latin typeface="Calibri"/>
              </a:rPr>
              <a:t>No license without the course. The Highlander Learning Platform (already built) tracks every completion in quiz_results.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72768"/>
            <a:ext cx="11640312" cy="548640"/>
          </a:xfrm>
          <a:prstGeom prst="rect">
            <a:avLst/>
          </a:prstGeom>
          <a:solidFill>
            <a:srgbClr val="19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572768"/>
            <a:ext cx="11640312" cy="36576"/>
          </a:xfrm>
          <a:prstGeom prst="rect">
            <a:avLst/>
          </a:prstGeom>
          <a:solidFill>
            <a:srgbClr val="556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6642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5606E"/>
                </a:solidFill>
                <a:latin typeface="Calibri"/>
              </a:rPr>
              <a:t>Enrolled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664208"/>
            <a:ext cx="8622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1D9"/>
                </a:solidFill>
                <a:latin typeface="Calibri"/>
              </a:rPr>
              <a:t>Seat assigned, course link sent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231136"/>
            <a:ext cx="10634472" cy="548640"/>
          </a:xfrm>
          <a:prstGeom prst="rect">
            <a:avLst/>
          </a:prstGeom>
          <a:solidFill>
            <a:srgbClr val="003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231136"/>
            <a:ext cx="10634472" cy="36576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32257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6FF7"/>
                </a:solidFill>
                <a:latin typeface="Calibri"/>
              </a:rPr>
              <a:t>Certified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322576"/>
            <a:ext cx="7616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1D9"/>
                </a:solidFill>
                <a:latin typeface="Calibri"/>
              </a:rPr>
              <a:t>All 16 modules + AUP signed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0160" y="2889504"/>
            <a:ext cx="9628632" cy="548640"/>
          </a:xfrm>
          <a:prstGeom prst="rect">
            <a:avLst/>
          </a:prstGeom>
          <a:solidFill>
            <a:srgbClr val="003E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80160" y="2889504"/>
            <a:ext cx="9628632" cy="36576"/>
          </a:xfrm>
          <a:prstGeom prst="rect">
            <a:avLst/>
          </a:prstGeom>
          <a:solidFill>
            <a:srgbClr val="1A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98094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A3E"/>
                </a:solidFill>
                <a:latin typeface="Calibri"/>
              </a:rPr>
              <a:t>First Commit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980944"/>
            <a:ext cx="6611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1D9"/>
                </a:solidFill>
                <a:latin typeface="Calibri"/>
              </a:rPr>
              <a:t>First citizen repo created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83080" y="3547872"/>
            <a:ext cx="8622792" cy="548640"/>
          </a:xfrm>
          <a:prstGeom prst="rect">
            <a:avLst/>
          </a:prstGeom>
          <a:solidFill>
            <a:srgbClr val="007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83080" y="3547872"/>
            <a:ext cx="8622792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20240" y="36393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  <a:latin typeface="Calibri"/>
              </a:rPr>
              <a:t>Active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639312"/>
            <a:ext cx="56052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1D9"/>
                </a:solidFill>
                <a:latin typeface="Calibri"/>
              </a:rPr>
              <a:t>Commits every 2 weeks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4206240"/>
            <a:ext cx="7616952" cy="548640"/>
          </a:xfrm>
          <a:prstGeom prst="rect">
            <a:avLst/>
          </a:prstGeom>
          <a:solidFill>
            <a:srgbClr val="B9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6000" y="4206240"/>
            <a:ext cx="7616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23160" y="429767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Calibri"/>
              </a:rPr>
              <a:t>Driving Value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4297679"/>
            <a:ext cx="4599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1D9"/>
                </a:solidFill>
                <a:latin typeface="Calibri"/>
              </a:rPr>
              <a:t>Highlander shows OKR attribution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4956048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16-module curriculum in Highlander Learning Platform: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285232"/>
            <a:ext cx="2697480" cy="29260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5340096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1D9"/>
                </a:solidFill>
                <a:latin typeface="Calibri"/>
              </a:rPr>
              <a:t>01 What Claude Is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90672" y="5285232"/>
            <a:ext cx="2697480" cy="29260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82112" y="5340096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1D9"/>
                </a:solidFill>
                <a:latin typeface="Calibri"/>
              </a:rPr>
              <a:t>02 How Models Work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07024" y="5285232"/>
            <a:ext cx="2697480" cy="29260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98464" y="5340096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1D9"/>
                </a:solidFill>
                <a:latin typeface="Calibri"/>
              </a:rPr>
              <a:t>03 Tokens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23376" y="5285232"/>
            <a:ext cx="2697480" cy="29260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14816" y="5340096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1D9"/>
                </a:solidFill>
                <a:latin typeface="Calibri"/>
              </a:rPr>
              <a:t>04 Context Window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623560"/>
            <a:ext cx="2697480" cy="29260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5678424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1D9"/>
                </a:solidFill>
                <a:latin typeface="Calibri"/>
              </a:rPr>
              <a:t>05 Specificity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90672" y="5623560"/>
            <a:ext cx="2697480" cy="29260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82112" y="5678424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1D9"/>
                </a:solidFill>
                <a:latin typeface="Calibri"/>
              </a:rPr>
              <a:t>06 Anatomy of a Prompt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07024" y="5623560"/>
            <a:ext cx="2697480" cy="29260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98464" y="5678424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1D9"/>
                </a:solidFill>
                <a:latin typeface="Calibri"/>
              </a:rPr>
              <a:t>07 Iteration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723376" y="5623560"/>
            <a:ext cx="2697480" cy="29260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14816" y="5678424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1D9"/>
                </a:solidFill>
                <a:latin typeface="Calibri"/>
              </a:rPr>
              <a:t>08 Tips &amp; Tricks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5961888"/>
            <a:ext cx="2697480" cy="292608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601675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09 Operating Framework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90672" y="5961888"/>
            <a:ext cx="2697480" cy="29260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182112" y="601675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1D9"/>
                </a:solidFill>
                <a:latin typeface="Calibri"/>
              </a:rPr>
              <a:t>10 Projects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07024" y="5961888"/>
            <a:ext cx="2697480" cy="29260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98464" y="601675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1D9"/>
                </a:solidFill>
                <a:latin typeface="Calibri"/>
              </a:rPr>
              <a:t>11 Docs &amp; Multimodal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723376" y="5961888"/>
            <a:ext cx="2697480" cy="29260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814816" y="601675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1D9"/>
                </a:solidFill>
                <a:latin typeface="Calibri"/>
              </a:rPr>
              <a:t>12 Team Use Cases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6300216"/>
            <a:ext cx="2697480" cy="292608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635508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13 Safety &amp; Responsible Use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090672" y="6300216"/>
            <a:ext cx="2697480" cy="292608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182112" y="635508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14 MCP &amp; Agents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07024" y="6300216"/>
            <a:ext cx="2697480" cy="292608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98464" y="635508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15 GitHub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723376" y="6300216"/>
            <a:ext cx="2697480" cy="292608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814816" y="635508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1D9"/>
                </a:solidFill>
                <a:latin typeface="Calibri"/>
              </a:rPr>
              <a:t>16 Databases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64592"/>
            <a:ext cx="1577340" cy="256032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PROGRAM CADENCE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Meeting Cadence — Culture + Accountability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1640312" cy="22860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3444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606E"/>
                </a:solidFill>
                <a:latin typeface="Calibri"/>
              </a:rPr>
              <a:t>Accountability without bureaucracy. Three recurring touchpoints keep the program healthy without overwhelming citizens.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3611880" cy="347472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508760"/>
            <a:ext cx="3611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Weekly  —  Open Office Hours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856231"/>
            <a:ext cx="3611880" cy="256032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856231"/>
            <a:ext cx="3611880" cy="256032"/>
          </a:xfrm>
          <a:prstGeom prst="rect">
            <a:avLst/>
          </a:prstGeom>
          <a:noFill/>
        </p:spPr>
        <p:txBody>
          <a:bodyPr wrap="none" tIns="36576">
            <a:spAutoFit/>
          </a:bodyPr>
          <a:lstStyle/>
          <a:p>
            <a:pPr algn="ctr"/>
            <a:r>
              <a:rPr sz="1000" b="0" i="1">
                <a:solidFill>
                  <a:srgbClr val="2D6FF7"/>
                </a:solidFill>
                <a:latin typeface="Calibri"/>
              </a:rPr>
              <a:t>Optional · 30 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12264"/>
            <a:ext cx="3611880" cy="3337560"/>
          </a:xfrm>
          <a:prstGeom prst="rect">
            <a:avLst/>
          </a:prstGeom>
          <a:solidFill>
            <a:srgbClr val="13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212848"/>
            <a:ext cx="342900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100" b="0" i="0">
                <a:solidFill>
                  <a:srgbClr val="CCD1D9"/>
                </a:solidFill>
                <a:latin typeface="Calibri"/>
              </a:rPr>
              <a:t>• Drop-in Q&amp;A — no agenda required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CCD1D9"/>
                </a:solidFill>
                <a:latin typeface="Calibri"/>
              </a:rPr>
              <a:t>• Unblock citizens on tasks or zone questions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CCD1D9"/>
                </a:solidFill>
                <a:latin typeface="Calibri"/>
              </a:rPr>
              <a:t>• Share wins and showcase cool outputs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CCD1D9"/>
                </a:solidFill>
                <a:latin typeface="Calibri"/>
              </a:rPr>
              <a:t>• Pairs with async Slack channel for between-session questions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CCD1D9"/>
                </a:solidFill>
                <a:latin typeface="Calibri"/>
              </a:rPr>
              <a:t>• No required attendance — but keeps the door open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33088" y="1508760"/>
            <a:ext cx="3611880" cy="347472"/>
          </a:xfrm>
          <a:prstGeom prst="rect">
            <a:avLst/>
          </a:prstGeom>
          <a:solidFill>
            <a:srgbClr val="1A4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33088" y="1508760"/>
            <a:ext cx="3611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Monthly  —  All-Hands Program Call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33088" y="1856231"/>
            <a:ext cx="3611880" cy="256032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33088" y="1856231"/>
            <a:ext cx="3611880" cy="256032"/>
          </a:xfrm>
          <a:prstGeom prst="rect">
            <a:avLst/>
          </a:prstGeom>
          <a:noFill/>
        </p:spPr>
        <p:txBody>
          <a:bodyPr wrap="none" tIns="36576">
            <a:spAutoFit/>
          </a:bodyPr>
          <a:lstStyle/>
          <a:p>
            <a:pPr algn="ctr"/>
            <a:r>
              <a:rPr sz="1000" b="0" i="1">
                <a:solidFill>
                  <a:srgbClr val="1A48BB"/>
                </a:solidFill>
                <a:latin typeface="Calibri"/>
              </a:rPr>
              <a:t>Mandatory · 30 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33088" y="2112264"/>
            <a:ext cx="3611880" cy="3337560"/>
          </a:xfrm>
          <a:prstGeom prst="rect">
            <a:avLst/>
          </a:prstGeom>
          <a:solidFill>
            <a:srgbClr val="13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24528" y="2212848"/>
            <a:ext cx="342900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100" b="0" i="0">
                <a:solidFill>
                  <a:srgbClr val="CCD1D9"/>
                </a:solidFill>
                <a:latin typeface="Calibri"/>
              </a:rPr>
              <a:t>• Highlander metrics recap — who's active, OKRs being driven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CCD1D9"/>
                </a:solidFill>
                <a:latin typeface="Calibri"/>
              </a:rPr>
              <a:t>• One citizen showcase: real tool built in the last month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CCD1D9"/>
                </a:solidFill>
                <a:latin typeface="Calibri"/>
              </a:rPr>
              <a:t>• Policy/tooling updates — newly approved MCP servers, zone clarifications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CCD1D9"/>
                </a:solidFill>
                <a:latin typeface="Calibri"/>
              </a:rPr>
              <a:t>• 10 min open Q&amp;A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CCD1D9"/>
                </a:solidFill>
                <a:latin typeface="Calibri"/>
              </a:rPr>
              <a:t>• Recorded for anyone who misses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91856" y="1508760"/>
            <a:ext cx="3611880" cy="3474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91856" y="1508760"/>
            <a:ext cx="3611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Quarterly  —  1:1 Check-ins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91856" y="1856231"/>
            <a:ext cx="3611880" cy="256032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91856" y="1856231"/>
            <a:ext cx="3611880" cy="256032"/>
          </a:xfrm>
          <a:prstGeom prst="rect">
            <a:avLst/>
          </a:prstGeom>
          <a:noFill/>
        </p:spPr>
        <p:txBody>
          <a:bodyPr wrap="none" tIns="36576">
            <a:spAutoFit/>
          </a:bodyPr>
          <a:lstStyle/>
          <a:p>
            <a:pPr algn="ctr"/>
            <a:r>
              <a:rPr sz="1000" b="0" i="1">
                <a:solidFill>
                  <a:srgbClr val="F5A623"/>
                </a:solidFill>
                <a:latin typeface="Calibri"/>
              </a:rPr>
              <a:t>Mandatory · 20 min each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91856" y="2112264"/>
            <a:ext cx="3611880" cy="3337560"/>
          </a:xfrm>
          <a:prstGeom prst="rect">
            <a:avLst/>
          </a:prstGeom>
          <a:solidFill>
            <a:srgbClr val="13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83296" y="2212848"/>
            <a:ext cx="342900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100" b="0" i="0">
                <a:solidFill>
                  <a:srgbClr val="CCD1D9"/>
                </a:solidFill>
                <a:latin typeface="Calibri"/>
              </a:rPr>
              <a:t>• OKR review: Highlander data for that citizen's repos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CCD1D9"/>
                </a:solidFill>
                <a:latin typeface="Calibri"/>
              </a:rPr>
              <a:t>• Zone compliance check: any edge cases or near-misses?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CCD1D9"/>
                </a:solidFill>
                <a:latin typeface="Calibri"/>
              </a:rPr>
              <a:t>• Coaching: better workflows, zone upgrades if ready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CCD1D9"/>
                </a:solidFill>
                <a:latin typeface="Calibri"/>
              </a:rPr>
              <a:t>• Flag policy gaps → feed into curriculum updates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00" b="0" i="0">
                <a:solidFill>
                  <a:srgbClr val="CCD1D9"/>
                </a:solidFill>
                <a:latin typeface="Calibri"/>
              </a:rPr>
              <a:t>• Re-certification reminder ahead of annual review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577840"/>
            <a:ext cx="11640312" cy="548640"/>
          </a:xfrm>
          <a:prstGeom prst="rect">
            <a:avLst/>
          </a:prstGeom>
          <a:solidFill>
            <a:srgbClr val="2A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5605272"/>
            <a:ext cx="1136599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E84A3A"/>
                </a:solidFill>
                <a:latin typeface="Calibri"/>
              </a:rPr>
              <a:t>Ad Hoc — Incident Review: </a:t>
            </a:r>
            <a:r>
              <a:rPr sz="1100" b="0" i="0">
                <a:solidFill>
                  <a:srgbClr val="CCD1D9"/>
                </a:solidFill>
                <a:latin typeface="Calibri"/>
              </a:rPr>
              <a:t>Triggered by any No-Drive Zone violation. Program lead + manager + IT review within 48 hours. Outcome: re-certification, remediation, or license revocation.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64592"/>
            <a:ext cx="1143000" cy="256032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/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COST &amp; 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libri"/>
              </a:rPr>
              <a:t>Cost Model &amp; Return on Investment (25 Citizens)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1640312" cy="22860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713232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463040"/>
                <a:gridCol w="1371600"/>
                <a:gridCol w="1371600"/>
              </a:tblGrid>
              <a:tr h="502920">
                <a:tc>
                  <a:txBody>
                    <a:bodyPr wrap="square" lIns="54864" rIns="54864" tIns="36576" bIns="36576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>
                    <a:solidFill>
                      <a:srgbClr val="1A48BB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Monthly</a:t>
                      </a:r>
                    </a:p>
                  </a:txBody>
                  <a:tcPr>
                    <a:solidFill>
                      <a:srgbClr val="1A48BB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Annual</a:t>
                      </a:r>
                    </a:p>
                  </a:txBody>
                  <a:tcPr>
                    <a:solidFill>
                      <a:srgbClr val="1A48BB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A48BB"/>
                    </a:solidFill>
                  </a:tcPr>
                </a:tc>
              </a:tr>
              <a:tr h="502920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50" b="0" i="0">
                          <a:solidFill>
                            <a:srgbClr val="FFFFFF"/>
                          </a:solidFill>
                          <a:latin typeface="Calibri"/>
                        </a:rPr>
                        <a:t>Claude Teams (25 seats @ $30/seat)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50" b="0" i="0">
                          <a:solidFill>
                            <a:srgbClr val="CCD1D9"/>
                          </a:solidFill>
                          <a:latin typeface="Calibri"/>
                        </a:rPr>
                        <a:t>$750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50" b="0" i="0">
                          <a:solidFill>
                            <a:srgbClr val="CCD1D9"/>
                          </a:solidFill>
                          <a:latin typeface="Calibri"/>
                        </a:rPr>
                        <a:t>$9,000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50" b="0" i="0">
                          <a:solidFill>
                            <a:srgbClr val="CCD1D9"/>
                          </a:solidFill>
                          <a:latin typeface="Calibri"/>
                        </a:rPr>
                        <a:t>Already contracted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502920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50" b="0" i="0">
                          <a:solidFill>
                            <a:srgbClr val="FFFFFF"/>
                          </a:solidFill>
                          <a:latin typeface="Calibri"/>
                        </a:rPr>
                        <a:t>GitHub Teams (25 seats @ $4/seat)</a:t>
                      </a:r>
                    </a:p>
                  </a:txBody>
                  <a:tcPr>
                    <a:solidFill>
                      <a:srgbClr val="131620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50" b="0" i="0">
                          <a:solidFill>
                            <a:srgbClr val="CCD1D9"/>
                          </a:solidFill>
                          <a:latin typeface="Calibri"/>
                        </a:rPr>
                        <a:t>$100</a:t>
                      </a:r>
                    </a:p>
                  </a:txBody>
                  <a:tcPr>
                    <a:solidFill>
                      <a:srgbClr val="131620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50" b="0" i="0">
                          <a:solidFill>
                            <a:srgbClr val="CCD1D9"/>
                          </a:solidFill>
                          <a:latin typeface="Calibri"/>
                        </a:rPr>
                        <a:t>$1,200</a:t>
                      </a:r>
                    </a:p>
                  </a:txBody>
                  <a:tcPr>
                    <a:solidFill>
                      <a:srgbClr val="131620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50" b="0" i="0">
                          <a:solidFill>
                            <a:srgbClr val="CCD1D9"/>
                          </a:solidFill>
                          <a:latin typeface="Calibri"/>
                        </a:rPr>
                        <a:t>New spend</a:t>
                      </a:r>
                    </a:p>
                  </a:txBody>
                  <a:tcPr>
                    <a:solidFill>
                      <a:srgbClr val="131620"/>
                    </a:solidFill>
                  </a:tcPr>
                </a:tc>
              </a:tr>
              <a:tr h="502920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50" b="0" i="0">
                          <a:solidFill>
                            <a:srgbClr val="FFFFFF"/>
                          </a:solidFill>
                          <a:latin typeface="Calibri"/>
                        </a:rPr>
                        <a:t>Highlander infra (marginal increase)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50" b="0" i="0">
                          <a:solidFill>
                            <a:srgbClr val="CCD1D9"/>
                          </a:solidFill>
                          <a:latin typeface="Calibri"/>
                        </a:rPr>
                        <a:t>$8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50" b="0" i="0">
                          <a:solidFill>
                            <a:srgbClr val="CCD1D9"/>
                          </a:solidFill>
                          <a:latin typeface="Calibri"/>
                        </a:rPr>
                        <a:t>$96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50" b="0" i="0">
                          <a:solidFill>
                            <a:srgbClr val="CCD1D9"/>
                          </a:solidFill>
                          <a:latin typeface="Calibri"/>
                        </a:rPr>
                        <a:t>Already running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502920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50" b="0" i="0">
                          <a:solidFill>
                            <a:srgbClr val="FFFFFF"/>
                          </a:solidFill>
                          <a:latin typeface="Calibri"/>
                        </a:rPr>
                        <a:t>Program management (~5 hrs/month)</a:t>
                      </a:r>
                    </a:p>
                  </a:txBody>
                  <a:tcPr>
                    <a:solidFill>
                      <a:srgbClr val="131620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50" b="0" i="0">
                          <a:solidFill>
                            <a:srgbClr val="CCD1D9"/>
                          </a:solidFill>
                          <a:latin typeface="Calibri"/>
                        </a:rPr>
                        <a:t>$750</a:t>
                      </a:r>
                    </a:p>
                  </a:txBody>
                  <a:tcPr>
                    <a:solidFill>
                      <a:srgbClr val="131620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50" b="0" i="0">
                          <a:solidFill>
                            <a:srgbClr val="CCD1D9"/>
                          </a:solidFill>
                          <a:latin typeface="Calibri"/>
                        </a:rPr>
                        <a:t>$9,000</a:t>
                      </a:r>
                    </a:p>
                  </a:txBody>
                  <a:tcPr>
                    <a:solidFill>
                      <a:srgbClr val="131620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50" b="0" i="0">
                          <a:solidFill>
                            <a:srgbClr val="CCD1D9"/>
                          </a:solidFill>
                          <a:latin typeface="Calibri"/>
                        </a:rPr>
                        <a:t>Internal cost</a:t>
                      </a:r>
                    </a:p>
                  </a:txBody>
                  <a:tcPr>
                    <a:solidFill>
                      <a:srgbClr val="131620"/>
                    </a:solidFill>
                  </a:tcPr>
                </a:tc>
              </a:tr>
              <a:tr h="502920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50" b="0" i="0">
                          <a:solidFill>
                            <a:srgbClr val="FFFFFF"/>
                          </a:solidFill>
                          <a:latin typeface="Calibri"/>
                        </a:rPr>
                        <a:t>One-time setup (engineering + course)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50" b="0" i="0">
                          <a:solidFill>
                            <a:srgbClr val="CCD1D9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50" b="0" i="0">
                          <a:solidFill>
                            <a:srgbClr val="CCD1D9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50" b="0" i="0">
                          <a:solidFill>
                            <a:srgbClr val="CCD1D9"/>
                          </a:solidFill>
                          <a:latin typeface="Calibri"/>
                        </a:rPr>
                        <a:t>$6,150 one-time</a:t>
                      </a:r>
                    </a:p>
                  </a:txBody>
                  <a:tcPr>
                    <a:solidFill>
                      <a:srgbClr val="1A1F2E"/>
                    </a:solidFill>
                  </a:tcPr>
                </a:tc>
              </a:tr>
              <a:tr h="502920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TOTAL — Year 1</a:t>
                      </a:r>
                    </a:p>
                  </a:txBody>
                  <a:tcPr>
                    <a:solidFill>
                      <a:srgbClr val="2D6FF7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$1,608</a:t>
                      </a:r>
                    </a:p>
                  </a:txBody>
                  <a:tcPr>
                    <a:solidFill>
                      <a:srgbClr val="2D6FF7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$19,296</a:t>
                      </a:r>
                    </a:p>
                  </a:txBody>
                  <a:tcPr>
                    <a:solidFill>
                      <a:srgbClr val="2D6FF7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~$25K all-in</a:t>
                      </a:r>
                    </a:p>
                  </a:txBody>
                  <a:tcPr>
                    <a:solidFill>
                      <a:srgbClr val="2D6FF7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589520" y="1417320"/>
            <a:ext cx="4325112" cy="3520440"/>
          </a:xfrm>
          <a:prstGeom prst="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89520" y="1417320"/>
            <a:ext cx="4325112" cy="54864"/>
          </a:xfrm>
          <a:prstGeom prst="rect">
            <a:avLst/>
          </a:prstGeom>
          <a:solidFill>
            <a:srgbClr val="2D6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99248" y="1508760"/>
            <a:ext cx="41148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 i="0">
                <a:solidFill>
                  <a:srgbClr val="2D6FF7"/>
                </a:solidFill>
                <a:latin typeface="Calibri"/>
              </a:rPr>
              <a:t>ROI MODEL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CD1D9"/>
                </a:solidFill>
                <a:latin typeface="Calibri"/>
              </a:rPr>
              <a:t>25 people × 1 hr/week saved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CD1D9"/>
                </a:solidFill>
                <a:latin typeface="Calibri"/>
              </a:rPr>
              <a:t>× 50 weeks × $75/hr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= $93,750 recaptured capacity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CCD1D9"/>
                </a:solidFill>
                <a:latin typeface="Calibri"/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5606E"/>
                </a:solidFill>
                <a:latin typeface="Calibri"/>
              </a:rPr>
              <a:t>Program cost (year 1): ~$25K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7AE60"/>
                </a:solidFill>
                <a:latin typeface="Calibri"/>
              </a:rPr>
              <a:t>Break-even: ~3 months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7AE60"/>
                </a:solidFill>
                <a:latin typeface="Calibri"/>
              </a:rPr>
              <a:t>Year 1 ROI: 2.8×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 i="0">
                <a:solidFill>
                  <a:srgbClr val="CCD1D9"/>
                </a:solidFill>
                <a:latin typeface="Calibri"/>
              </a:rPr>
              <a:t/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5606E"/>
                </a:solidFill>
                <a:latin typeface="Calibri"/>
              </a:rPr>
              <a:t>+ Highlander data proves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5606E"/>
                </a:solidFill>
                <a:latin typeface="Calibri"/>
              </a:rPr>
              <a:t>constraint reduction &amp; OKR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5606E"/>
                </a:solidFill>
                <a:latin typeface="Calibri"/>
              </a:rPr>
              <a:t>impact independently.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074920"/>
            <a:ext cx="11640312" cy="713232"/>
          </a:xfrm>
          <a:prstGeom prst="rect">
            <a:avLst/>
          </a:prstGeom>
          <a:solidFill>
            <a:srgbClr val="2A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5120640"/>
            <a:ext cx="113659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F5A623"/>
                </a:solidFill>
                <a:latin typeface="Calibri"/>
              </a:rPr>
              <a:t>Future — Anthropic Enterprise API: </a:t>
            </a:r>
            <a:r>
              <a:rPr sz="1100" b="0" i="0">
                <a:solidFill>
                  <a:srgbClr val="CCD1D9"/>
                </a:solidFill>
                <a:latin typeface="Calibri"/>
              </a:rPr>
              <a:t>adds ~$1,125–1,875/month incremental (delta from Teams to Enterprise pricing). Evaluate after Q1 once usage patterns and SOC2 audit findings are known.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